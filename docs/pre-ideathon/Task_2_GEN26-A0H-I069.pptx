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6" r:id="rId2"/>
    <p:sldId id="265"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66"/>
            <p14:sldId id="265"/>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58"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7E1D14F6-BD29-CD46-947A-ACAE7AA406E4}" type="datetimeFigureOut">
              <a:rPr lang="en-US" smtClean="0"/>
              <a:t>10/10/2026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6409563B-7441-F34F-B16A-4323C6071BF3}" type="slidenum">
              <a:rPr lang="en-US" smtClean="0"/>
              <a:t>‹#›</a:t>
            </a:fld>
            <a:endParaRPr lang="en-US"/>
          </a:p>
        </p:txBody>
      </p:sp>
    </p:spTree>
    <p:extLst>
      <p:ext uri="{BB962C8B-B14F-4D97-AF65-F5344CB8AC3E}">
        <p14:creationId xmlns:p14="http://schemas.microsoft.com/office/powerpoint/2010/main" val="4282309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991662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390834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5" name="Cover Fields"/>
          <p:cNvSpPr txBox="1"/>
          <p:nvPr/>
        </p:nvSpPr>
        <p:spPr>
          <a:xfrm>
            <a:off x="548640" y="3177539"/>
            <a:ext cx="6153874" cy="3569091"/>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a:t>
            </a:r>
            <a:r>
              <a:rPr lang="en-US" dirty="0">
                <a:solidFill>
                  <a:schemeClr val="bg1"/>
                </a:solidFill>
              </a:rPr>
              <a:t>:</a:t>
            </a:r>
            <a:r>
              <a:rPr lang="en-US" sz="1800" dirty="0">
                <a:solidFill>
                  <a:schemeClr val="bg1"/>
                </a:solidFill>
              </a:rPr>
              <a:t> ASGUARDIANS</a:t>
            </a:r>
            <a:endParaRPr lang="en-US" sz="1800" dirty="0"/>
          </a:p>
          <a:p>
            <a:pPr marL="279400" indent="-279400">
              <a:spcAft>
                <a:spcPts val="1400"/>
              </a:spcAft>
              <a:buClr>
                <a:schemeClr val="accent3"/>
              </a:buClr>
              <a:buSzPct val="100000"/>
              <a:buChar char="•"/>
            </a:pPr>
            <a:r>
              <a:rPr lang="en-US" sz="1800" dirty="0">
                <a:solidFill>
                  <a:schemeClr val="bg1"/>
                </a:solidFill>
              </a:rPr>
              <a:t>Team Members </a:t>
            </a:r>
            <a:r>
              <a:rPr lang="en-US" dirty="0">
                <a:solidFill>
                  <a:schemeClr val="bg1"/>
                </a:solidFill>
              </a:rPr>
              <a:t>: Shree Ishwarya R (CB.EN.U4ARE25044) (TL)</a:t>
            </a:r>
          </a:p>
          <a:p>
            <a:pPr>
              <a:spcAft>
                <a:spcPts val="1400"/>
              </a:spcAft>
              <a:buClr>
                <a:schemeClr val="accent3"/>
              </a:buClr>
              <a:buSzPct val="100000"/>
            </a:pPr>
            <a:r>
              <a:rPr lang="en-US" dirty="0">
                <a:solidFill>
                  <a:schemeClr val="bg1"/>
                </a:solidFill>
              </a:rPr>
              <a:t>		  Sridhar V R (CB.EN.U4ARE25048)</a:t>
            </a:r>
          </a:p>
          <a:p>
            <a:pPr>
              <a:spcAft>
                <a:spcPts val="1400"/>
              </a:spcAft>
              <a:buClr>
                <a:schemeClr val="accent3"/>
              </a:buClr>
              <a:buSzPct val="100000"/>
            </a:pPr>
            <a:r>
              <a:rPr lang="en-US" dirty="0">
                <a:solidFill>
                  <a:schemeClr val="bg1"/>
                </a:solidFill>
              </a:rPr>
              <a:t>		  Saai Adith K (CB.EN.U4ARE25039)</a:t>
            </a:r>
          </a:p>
          <a:p>
            <a:pPr>
              <a:spcAft>
                <a:spcPts val="1400"/>
              </a:spcAft>
              <a:buClr>
                <a:schemeClr val="accent3"/>
              </a:buClr>
              <a:buSzPct val="100000"/>
            </a:pPr>
            <a:r>
              <a:rPr lang="en-US" dirty="0">
                <a:solidFill>
                  <a:schemeClr val="bg1"/>
                </a:solidFill>
              </a:rPr>
              <a:t>		  Roopali S (CB.EN.U4ARE25037)</a:t>
            </a:r>
            <a:endParaRPr lang="en-US" sz="1800" dirty="0"/>
          </a:p>
          <a:p>
            <a:pPr marL="279400" indent="-279400">
              <a:spcAft>
                <a:spcPts val="1400"/>
              </a:spcAft>
              <a:buClr>
                <a:schemeClr val="accent3"/>
              </a:buClr>
              <a:buSzPct val="100000"/>
              <a:buChar char="•"/>
            </a:pPr>
            <a:r>
              <a:rPr lang="en-US" sz="1800" dirty="0">
                <a:solidFill>
                  <a:schemeClr val="bg1"/>
                </a:solidFill>
              </a:rPr>
              <a:t>Selected Domain </a:t>
            </a:r>
            <a:r>
              <a:rPr lang="en-US" dirty="0">
                <a:solidFill>
                  <a:schemeClr val="bg1"/>
                </a:solidFill>
              </a:rPr>
              <a:t>:</a:t>
            </a:r>
            <a:r>
              <a:rPr lang="en-US" sz="1800" dirty="0">
                <a:solidFill>
                  <a:schemeClr val="bg1"/>
                </a:solidFill>
              </a:rPr>
              <a:t> #2</a:t>
            </a:r>
            <a:endParaRPr lang="en-US" sz="1800" dirty="0"/>
          </a:p>
          <a:p>
            <a:pPr marL="279400" indent="-279400">
              <a:spcAft>
                <a:spcPts val="1400"/>
              </a:spcAft>
              <a:buClr>
                <a:schemeClr val="accent3"/>
              </a:buClr>
              <a:buSzPct val="100000"/>
              <a:buChar char="•"/>
            </a:pPr>
            <a:r>
              <a:rPr lang="en-US" sz="1800" dirty="0">
                <a:solidFill>
                  <a:schemeClr val="bg1"/>
                </a:solidFill>
              </a:rPr>
              <a:t>Problem Statement </a:t>
            </a:r>
            <a:r>
              <a:rPr lang="en-US" dirty="0">
                <a:solidFill>
                  <a:schemeClr val="bg1"/>
                </a:solidFill>
              </a:rPr>
              <a:t>: Bicycle theft is a common security concern, especially in public and unsecured areas where existing locks can be easily tampered.</a:t>
            </a:r>
            <a:endParaRPr lang="en-US" sz="1800" dirty="0"/>
          </a:p>
        </p:txBody>
      </p:sp>
    </p:spTree>
    <p:extLst>
      <p:ext uri="{BB962C8B-B14F-4D97-AF65-F5344CB8AC3E}">
        <p14:creationId xmlns:p14="http://schemas.microsoft.com/office/powerpoint/2010/main" val="3329280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ASGUARDIANS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573768" cy="1144641"/>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p>
          <a:p>
            <a:r>
              <a:rPr lang="en-US" dirty="0"/>
              <a:t>People often hesitate to leave their bicycles unattended because they are worried about theft. In public places, bicycles can be easily targeted when the security provided by existing locks is not enough.</a:t>
            </a:r>
          </a:p>
        </p:txBody>
      </p:sp>
      <p:sp>
        <p:nvSpPr>
          <p:cNvPr id="10" name="Prompts"/>
          <p:cNvSpPr txBox="1"/>
          <p:nvPr/>
        </p:nvSpPr>
        <p:spPr>
          <a:xfrm>
            <a:off x="868680" y="2616449"/>
            <a:ext cx="10221351" cy="346417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600" b="1" dirty="0">
                <a:solidFill>
                  <a:schemeClr val="tx1"/>
                </a:solidFill>
              </a:rPr>
              <a:t>What exactly needs to be solved?</a:t>
            </a:r>
          </a:p>
          <a:p>
            <a:pPr marL="736600" lvl="1" indent="-279400">
              <a:spcAft>
                <a:spcPts val="1000"/>
              </a:spcAft>
              <a:buClr>
                <a:schemeClr val="accent1"/>
              </a:buClr>
              <a:buSzPct val="100000"/>
              <a:buChar char="•"/>
            </a:pPr>
            <a:r>
              <a:rPr lang="en-US" sz="1600" dirty="0"/>
              <a:t>Prevent unauthorized bicycle access when the owner is away.</a:t>
            </a:r>
          </a:p>
          <a:p>
            <a:pPr marL="736600" lvl="1" indent="-279400">
              <a:spcAft>
                <a:spcPts val="1000"/>
              </a:spcAft>
              <a:buClr>
                <a:schemeClr val="accent1"/>
              </a:buClr>
              <a:buSzPct val="100000"/>
              <a:buChar char="•"/>
            </a:pPr>
            <a:r>
              <a:rPr lang="en-US" sz="1600" dirty="0"/>
              <a:t>Reduce vulnerability to tampering, forced unlocking, and bypassing of existing locks.</a:t>
            </a:r>
          </a:p>
          <a:p>
            <a:pPr marL="736600" lvl="1" indent="-279400">
              <a:spcAft>
                <a:spcPts val="1000"/>
              </a:spcAft>
              <a:buClr>
                <a:schemeClr val="accent1"/>
              </a:buClr>
              <a:buSzPct val="100000"/>
              <a:buChar char="•"/>
            </a:pPr>
            <a:r>
              <a:rPr lang="en-US" sz="1600" dirty="0"/>
              <a:t>Provide reliable security for bicycles parked in public, campus, and other unsecured areas.</a:t>
            </a:r>
          </a:p>
          <a:p>
            <a:pPr marL="736600" lvl="1" indent="-279400">
              <a:spcAft>
                <a:spcPts val="1000"/>
              </a:spcAft>
              <a:buClr>
                <a:schemeClr val="accent1"/>
              </a:buClr>
              <a:buSzPct val="100000"/>
              <a:buChar char="•"/>
            </a:pPr>
            <a:r>
              <a:rPr lang="en-US" sz="1600" dirty="0"/>
              <a:t>Ensure bicycle protection remains practical and convenient for everyday users.</a:t>
            </a:r>
          </a:p>
          <a:p>
            <a:pPr marL="279400" indent="-279400">
              <a:spcAft>
                <a:spcPts val="1000"/>
              </a:spcAft>
              <a:buClr>
                <a:schemeClr val="accent1"/>
              </a:buClr>
              <a:buSzPct val="100000"/>
              <a:buChar char="•"/>
            </a:pPr>
            <a:r>
              <a:rPr lang="en-US" sz="1600" b="1" dirty="0">
                <a:solidFill>
                  <a:schemeClr val="tx1"/>
                </a:solidFill>
              </a:rPr>
              <a:t>Why is it important right now?</a:t>
            </a:r>
          </a:p>
          <a:p>
            <a:pPr marL="736600" lvl="1" indent="-279400">
              <a:spcAft>
                <a:spcPts val="1000"/>
              </a:spcAft>
              <a:buClr>
                <a:schemeClr val="accent1"/>
              </a:buClr>
              <a:buSzPct val="100000"/>
              <a:buChar char="•"/>
            </a:pPr>
            <a:r>
              <a:rPr lang="en-US" sz="1600" dirty="0"/>
              <a:t>Bicycles are increasingly used for commuting, campus travel, fitness, and short-distance transportation.</a:t>
            </a:r>
          </a:p>
          <a:p>
            <a:pPr marL="736600" lvl="1" indent="-279400">
              <a:spcAft>
                <a:spcPts val="1000"/>
              </a:spcAft>
              <a:buClr>
                <a:schemeClr val="accent1"/>
              </a:buClr>
              <a:buSzPct val="100000"/>
              <a:buChar char="•"/>
            </a:pPr>
            <a:r>
              <a:rPr lang="en-US" sz="1600" dirty="0"/>
              <a:t>The risk of theft can discourage people from choosing bicycles as a mode of transport.</a:t>
            </a:r>
          </a:p>
          <a:p>
            <a:pPr marL="736600" lvl="1" indent="-279400">
              <a:spcAft>
                <a:spcPts val="1000"/>
              </a:spcAft>
              <a:buClr>
                <a:schemeClr val="accent1"/>
              </a:buClr>
              <a:buSzPct val="100000"/>
              <a:buChar char="•"/>
            </a:pPr>
            <a:r>
              <a:rPr lang="en-US" sz="1600" dirty="0"/>
              <a:t>Public parking areas often leave bicycles unattended for long periods, increasing security concerns.</a:t>
            </a:r>
          </a:p>
          <a:p>
            <a:pPr marL="736600" lvl="1" indent="-279400">
              <a:spcAft>
                <a:spcPts val="1000"/>
              </a:spcAft>
              <a:buClr>
                <a:schemeClr val="accent1"/>
              </a:buClr>
              <a:buSzPct val="100000"/>
              <a:buChar char="•"/>
            </a:pPr>
            <a:r>
              <a:rPr lang="en-US" sz="1600" dirty="0"/>
              <a:t>Improving bicycle security can increase user confidence and encourage safer, sustainable mobility.</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extLst>
      <p:ext uri="{BB962C8B-B14F-4D97-AF65-F5344CB8AC3E}">
        <p14:creationId xmlns:p14="http://schemas.microsoft.com/office/powerpoint/2010/main" val="614832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
        <p:nvSpPr>
          <p:cNvPr id="26" name="TextBox 25"/>
          <p:cNvSpPr txBox="1"/>
          <p:nvPr/>
        </p:nvSpPr>
        <p:spPr>
          <a:xfrm>
            <a:off x="1325880" y="364724"/>
            <a:ext cx="1737360" cy="502920"/>
          </a:xfrm>
          <a:prstGeom prst="rect">
            <a:avLst/>
          </a:prstGeom>
          <a:noFill/>
        </p:spPr>
        <p:txBody>
          <a:bodyPr wrap="square" anchor="ctr">
            <a:spAutoFit/>
          </a:bodyPr>
          <a:lstStyle/>
          <a:p>
            <a:pPr algn="ctr">
              <a:defRPr sz="950" b="1">
                <a:solidFill>
                  <a:srgbClr val="1F7446"/>
                </a:solidFill>
              </a:defRPr>
            </a:pPr>
            <a:r>
              <a:t>TEAM</a:t>
            </a:r>
            <a:br/>
            <a:r>
              <a:t>ASGUARDIANS</a:t>
            </a:r>
          </a:p>
        </p:txBody>
      </p:sp>
      <p:sp>
        <p:nvSpPr>
          <p:cNvPr id="27" name="Rounded Rectangle 26"/>
          <p:cNvSpPr/>
          <p:nvPr/>
        </p:nvSpPr>
        <p:spPr>
          <a:xfrm>
            <a:off x="658368" y="1920240"/>
            <a:ext cx="3474720" cy="233172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22376" y="2029968"/>
            <a:ext cx="64008" cy="2112263"/>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77824" y="2020824"/>
            <a:ext cx="3154679" cy="274320"/>
          </a:xfrm>
          <a:prstGeom prst="rect">
            <a:avLst/>
          </a:prstGeom>
          <a:noFill/>
        </p:spPr>
        <p:txBody>
          <a:bodyPr wrap="square" anchor="ctr">
            <a:spAutoFit/>
          </a:bodyPr>
          <a:lstStyle/>
          <a:p>
            <a:pPr algn="l">
              <a:defRPr sz="1300" b="1">
                <a:solidFill>
                  <a:srgbClr val="67BE37"/>
                </a:solidFill>
              </a:defRPr>
            </a:pPr>
            <a:r>
              <a:t>PRIMARY USERS</a:t>
            </a:r>
          </a:p>
        </p:txBody>
      </p:sp>
      <p:sp>
        <p:nvSpPr>
          <p:cNvPr id="30" name="TextBox 29"/>
          <p:cNvSpPr txBox="1"/>
          <p:nvPr/>
        </p:nvSpPr>
        <p:spPr>
          <a:xfrm>
            <a:off x="877824" y="2338077"/>
            <a:ext cx="3154679" cy="1843518"/>
          </a:xfrm>
          <a:prstGeom prst="rect">
            <a:avLst/>
          </a:prstGeom>
          <a:noFill/>
        </p:spPr>
        <p:txBody>
          <a:bodyPr wrap="square" anchor="ctr">
            <a:spAutoFit/>
          </a:bodyPr>
          <a:lstStyle/>
          <a:p>
            <a:pPr marL="228600" lvl="0" indent="-228600">
              <a:lnSpc>
                <a:spcPct val="150000"/>
              </a:lnSpc>
              <a:buFont typeface="+mj-lt"/>
              <a:buAutoNum type="arabicPeriod"/>
            </a:pPr>
            <a:r>
              <a:rPr lang="en-IN" sz="1100" dirty="0"/>
              <a:t>Students who leave bicycles at campus racks during classes.</a:t>
            </a:r>
          </a:p>
          <a:p>
            <a:pPr marL="228600" lvl="0" indent="-228600">
              <a:lnSpc>
                <a:spcPct val="150000"/>
              </a:lnSpc>
              <a:buFont typeface="+mj-lt"/>
              <a:buAutoNum type="arabicPeriod"/>
            </a:pPr>
            <a:r>
              <a:rPr lang="en-IN" sz="1100" dirty="0"/>
              <a:t>Staff and commuters who depend on bicycles for daily travel.</a:t>
            </a:r>
          </a:p>
          <a:p>
            <a:pPr marL="228600" lvl="0" indent="-228600">
              <a:lnSpc>
                <a:spcPct val="150000"/>
              </a:lnSpc>
              <a:buFont typeface="+mj-lt"/>
              <a:buAutoNum type="arabicPeriod"/>
            </a:pPr>
            <a:r>
              <a:rPr lang="en-IN" sz="1100" dirty="0"/>
              <a:t>Bicycle owners who park in shared or public areas for extended periods.</a:t>
            </a:r>
          </a:p>
          <a:p>
            <a:pPr marL="228600" indent="-228600" algn="l">
              <a:lnSpc>
                <a:spcPct val="150000"/>
              </a:lnSpc>
              <a:spcAft>
                <a:spcPts val="200"/>
              </a:spcAft>
              <a:buFont typeface="+mj-lt"/>
              <a:buAutoNum type="arabicPeriod"/>
              <a:defRPr sz="1200" b="0">
                <a:solidFill>
                  <a:srgbClr val="213035"/>
                </a:solidFill>
              </a:defRPr>
            </a:pPr>
            <a:endParaRPr sz="1100" b="0" dirty="0">
              <a:solidFill>
                <a:srgbClr val="233135"/>
              </a:solidFill>
            </a:endParaRPr>
          </a:p>
        </p:txBody>
      </p:sp>
      <p:sp>
        <p:nvSpPr>
          <p:cNvPr id="31" name="Rounded Rectangle 30"/>
          <p:cNvSpPr/>
          <p:nvPr/>
        </p:nvSpPr>
        <p:spPr>
          <a:xfrm>
            <a:off x="4361688" y="1920240"/>
            <a:ext cx="3474720" cy="233172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4425696" y="2029968"/>
            <a:ext cx="64008" cy="2112263"/>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81144" y="2020824"/>
            <a:ext cx="3154679" cy="274320"/>
          </a:xfrm>
          <a:prstGeom prst="rect">
            <a:avLst/>
          </a:prstGeom>
          <a:noFill/>
        </p:spPr>
        <p:txBody>
          <a:bodyPr wrap="square" anchor="ctr">
            <a:spAutoFit/>
          </a:bodyPr>
          <a:lstStyle/>
          <a:p>
            <a:pPr algn="l">
              <a:defRPr sz="1300" b="1">
                <a:solidFill>
                  <a:srgbClr val="04323B"/>
                </a:solidFill>
              </a:defRPr>
            </a:pPr>
            <a:r>
              <a:t>SECONDARY STAKEHOLDERS</a:t>
            </a:r>
          </a:p>
        </p:txBody>
      </p:sp>
      <p:sp>
        <p:nvSpPr>
          <p:cNvPr id="34" name="TextBox 33"/>
          <p:cNvSpPr txBox="1"/>
          <p:nvPr/>
        </p:nvSpPr>
        <p:spPr>
          <a:xfrm>
            <a:off x="4581144" y="2263794"/>
            <a:ext cx="3154679" cy="1992084"/>
          </a:xfrm>
          <a:prstGeom prst="rect">
            <a:avLst/>
          </a:prstGeom>
          <a:noFill/>
        </p:spPr>
        <p:txBody>
          <a:bodyPr wrap="square" anchor="ctr">
            <a:spAutoFit/>
          </a:bodyPr>
          <a:lstStyle/>
          <a:p>
            <a:pPr marL="228600" lvl="0" indent="-228600">
              <a:buFont typeface="+mj-lt"/>
              <a:buAutoNum type="arabicPeriod"/>
            </a:pPr>
            <a:r>
              <a:rPr lang="en-IN" sz="1000" dirty="0"/>
              <a:t>Colleges and campus administrators responsible for bicycle parking.</a:t>
            </a:r>
          </a:p>
          <a:p>
            <a:pPr marL="228600" lvl="0" indent="-228600">
              <a:lnSpc>
                <a:spcPct val="150000"/>
              </a:lnSpc>
              <a:buFont typeface="+mj-lt"/>
              <a:buAutoNum type="arabicPeriod"/>
            </a:pPr>
            <a:r>
              <a:rPr lang="en-IN" sz="1000" dirty="0"/>
              <a:t>Security teams who respond to suspicious activity and theft reports.</a:t>
            </a:r>
          </a:p>
          <a:p>
            <a:pPr marL="228600" lvl="0" indent="-228600">
              <a:lnSpc>
                <a:spcPct val="150000"/>
              </a:lnSpc>
              <a:buFont typeface="+mj-lt"/>
              <a:buAutoNum type="arabicPeriod"/>
            </a:pPr>
            <a:r>
              <a:rPr lang="en-IN" sz="1000" dirty="0"/>
              <a:t>Workplace and public-space operators who provide bicycle parking.</a:t>
            </a:r>
          </a:p>
          <a:p>
            <a:pPr marL="228600" lvl="0" indent="-228600">
              <a:lnSpc>
                <a:spcPct val="150000"/>
              </a:lnSpc>
              <a:buFont typeface="+mj-lt"/>
              <a:buAutoNum type="arabicPeriod"/>
            </a:pPr>
            <a:r>
              <a:rPr lang="en-IN" sz="1000" dirty="0"/>
              <a:t>Bicycle service providers who may install or maintain the system.</a:t>
            </a:r>
          </a:p>
          <a:p>
            <a:pPr marL="228600" indent="-228600" algn="l">
              <a:lnSpc>
                <a:spcPct val="150000"/>
              </a:lnSpc>
              <a:spcAft>
                <a:spcPts val="200"/>
              </a:spcAft>
              <a:buFont typeface="+mj-lt"/>
              <a:buAutoNum type="arabicPeriod"/>
              <a:defRPr sz="1200" b="0">
                <a:solidFill>
                  <a:srgbClr val="213035"/>
                </a:solidFill>
              </a:defRPr>
            </a:pPr>
            <a:endParaRPr sz="1000" b="0" dirty="0">
              <a:solidFill>
                <a:srgbClr val="233135"/>
              </a:solidFill>
            </a:endParaRPr>
          </a:p>
        </p:txBody>
      </p:sp>
      <p:sp>
        <p:nvSpPr>
          <p:cNvPr id="35" name="Rounded Rectangle 34"/>
          <p:cNvSpPr/>
          <p:nvPr/>
        </p:nvSpPr>
        <p:spPr>
          <a:xfrm>
            <a:off x="8065008" y="1920240"/>
            <a:ext cx="3456432" cy="233172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129016" y="2029968"/>
            <a:ext cx="64008" cy="2130551"/>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84464" y="2011790"/>
            <a:ext cx="3431743" cy="292388"/>
          </a:xfrm>
          <a:prstGeom prst="rect">
            <a:avLst/>
          </a:prstGeom>
          <a:noFill/>
        </p:spPr>
        <p:txBody>
          <a:bodyPr wrap="square" anchor="ctr">
            <a:spAutoFit/>
          </a:bodyPr>
          <a:lstStyle/>
          <a:p>
            <a:pPr>
              <a:defRPr sz="1300" b="1">
                <a:solidFill>
                  <a:srgbClr val="E2AA34"/>
                </a:solidFill>
              </a:defRPr>
            </a:pPr>
            <a:r>
              <a:rPr lang="en-IN" sz="1300" b="1" dirty="0">
                <a:solidFill>
                  <a:srgbClr val="E2AA34"/>
                </a:solidFill>
              </a:rPr>
              <a:t>WHO BENEFITS IF THE PROBLEM IS SOLVED?</a:t>
            </a:r>
            <a:endParaRPr dirty="0"/>
          </a:p>
        </p:txBody>
      </p:sp>
      <p:sp>
        <p:nvSpPr>
          <p:cNvPr id="38" name="TextBox 37"/>
          <p:cNvSpPr txBox="1"/>
          <p:nvPr/>
        </p:nvSpPr>
        <p:spPr>
          <a:xfrm>
            <a:off x="8284464" y="2422716"/>
            <a:ext cx="3136391" cy="1674241"/>
          </a:xfrm>
          <a:prstGeom prst="rect">
            <a:avLst/>
          </a:prstGeom>
          <a:noFill/>
        </p:spPr>
        <p:txBody>
          <a:bodyPr wrap="square" anchor="ctr">
            <a:spAutoFit/>
          </a:bodyPr>
          <a:lstStyle/>
          <a:p>
            <a:pPr marL="228600" lvl="0" indent="-228600">
              <a:buFont typeface="+mj-lt"/>
              <a:buAutoNum type="arabicPeriod"/>
            </a:pPr>
            <a:r>
              <a:rPr lang="en-IN" sz="1100" b="1" dirty="0"/>
              <a:t>Owners:</a:t>
            </a:r>
            <a:r>
              <a:rPr lang="en-IN" sz="1100" dirty="0"/>
              <a:t> An audible warning when suspicious movement is detected.</a:t>
            </a:r>
          </a:p>
          <a:p>
            <a:pPr marL="228600" lvl="0" indent="-228600">
              <a:buFont typeface="+mj-lt"/>
              <a:buAutoNum type="arabicPeriod"/>
            </a:pPr>
            <a:r>
              <a:rPr lang="en-IN" sz="1100" b="1" dirty="0"/>
              <a:t>Campus administrators:</a:t>
            </a:r>
            <a:r>
              <a:rPr lang="en-IN" sz="1100" dirty="0"/>
              <a:t> An additional security measure for bicycle parking.</a:t>
            </a:r>
          </a:p>
          <a:p>
            <a:pPr marL="228600" lvl="0" indent="-228600">
              <a:buFont typeface="+mj-lt"/>
              <a:buAutoNum type="arabicPeriod"/>
            </a:pPr>
            <a:r>
              <a:rPr lang="en-IN" sz="1100" b="1" dirty="0"/>
              <a:t>Security teams:</a:t>
            </a:r>
            <a:r>
              <a:rPr lang="en-IN" sz="1100" dirty="0"/>
              <a:t> A warning that may help them investigate suspicious activity.</a:t>
            </a:r>
          </a:p>
          <a:p>
            <a:pPr marL="228600" lvl="0" indent="-228600">
              <a:buFont typeface="+mj-lt"/>
              <a:buAutoNum type="arabicPeriod"/>
            </a:pPr>
            <a:r>
              <a:rPr lang="en-IN" sz="1100" b="1" dirty="0"/>
              <a:t>Cyclists:</a:t>
            </a:r>
            <a:r>
              <a:rPr lang="en-IN" sz="1100" dirty="0"/>
              <a:t> Greater awareness of possible tampering while their bicycles are unattended.</a:t>
            </a:r>
          </a:p>
          <a:p>
            <a:pPr marL="228600" indent="-228600">
              <a:lnSpc>
                <a:spcPct val="150000"/>
              </a:lnSpc>
              <a:spcAft>
                <a:spcPts val="200"/>
              </a:spcAft>
              <a:buFont typeface="+mj-lt"/>
              <a:buAutoNum type="arabicPeriod"/>
              <a:defRPr sz="1200" b="0">
                <a:solidFill>
                  <a:srgbClr val="213035"/>
                </a:solidFill>
              </a:defRPr>
            </a:pPr>
            <a:endParaRPr sz="1100" b="0" dirty="0">
              <a:solidFill>
                <a:srgbClr val="233135"/>
              </a:solidFill>
            </a:endParaRPr>
          </a:p>
        </p:txBody>
      </p:sp>
      <p:sp>
        <p:nvSpPr>
          <p:cNvPr id="39" name="Rounded Rectangle 38"/>
          <p:cNvSpPr/>
          <p:nvPr/>
        </p:nvSpPr>
        <p:spPr>
          <a:xfrm>
            <a:off x="868680" y="4617720"/>
            <a:ext cx="2057400" cy="384048"/>
          </a:xfrm>
          <a:prstGeom prst="roundRect">
            <a:avLst/>
          </a:prstGeom>
          <a:solidFill>
            <a:srgbClr val="E8F5EC"/>
          </a:solidFill>
          <a:ln>
            <a:solidFill>
              <a:srgbClr val="E8F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14400" y="4626864"/>
            <a:ext cx="1965960" cy="365759"/>
          </a:xfrm>
          <a:prstGeom prst="rect">
            <a:avLst/>
          </a:prstGeom>
          <a:noFill/>
        </p:spPr>
        <p:txBody>
          <a:bodyPr wrap="square" anchor="ctr">
            <a:spAutoFit/>
          </a:bodyPr>
          <a:lstStyle/>
          <a:p>
            <a:pPr algn="ctr">
              <a:defRPr sz="1100" b="1">
                <a:solidFill>
                  <a:srgbClr val="1F7446"/>
                </a:solidFill>
              </a:defRPr>
            </a:pPr>
            <a:r>
              <a:t>USER NEED</a:t>
            </a:r>
          </a:p>
        </p:txBody>
      </p:sp>
      <p:sp>
        <p:nvSpPr>
          <p:cNvPr id="41" name="TextBox 40"/>
          <p:cNvSpPr txBox="1"/>
          <p:nvPr/>
        </p:nvSpPr>
        <p:spPr>
          <a:xfrm>
            <a:off x="3063240" y="4658974"/>
            <a:ext cx="8892971" cy="461665"/>
          </a:xfrm>
          <a:prstGeom prst="rect">
            <a:avLst/>
          </a:prstGeom>
          <a:noFill/>
        </p:spPr>
        <p:txBody>
          <a:bodyPr wrap="square" anchor="ctr">
            <a:normAutofit/>
          </a:bodyPr>
          <a:lstStyle/>
          <a:p>
            <a:pPr>
              <a:spcAft>
                <a:spcPts val="150"/>
              </a:spcAft>
            </a:pPr>
            <a:r>
              <a:rPr sz="1200">
                <a:latin typeface="Aptos"/>
              </a:rPr>
              <a:t>A secure, easy-to-use bicycle lock that detects suspicious movement, gives a clear audible warning, and remains mechanically unlockable if electronic access or power fails.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
        <p:nvSpPr>
          <p:cNvPr id="26" name="TextBox 25"/>
          <p:cNvSpPr txBox="1"/>
          <p:nvPr/>
        </p:nvSpPr>
        <p:spPr>
          <a:xfrm>
            <a:off x="1325880" y="347472"/>
            <a:ext cx="1737360" cy="502920"/>
          </a:xfrm>
          <a:prstGeom prst="rect">
            <a:avLst/>
          </a:prstGeom>
          <a:noFill/>
        </p:spPr>
        <p:txBody>
          <a:bodyPr wrap="square" anchor="ctr">
            <a:spAutoFit/>
          </a:bodyPr>
          <a:lstStyle/>
          <a:p>
            <a:pPr algn="ctr">
              <a:defRPr sz="950" b="1">
                <a:solidFill>
                  <a:srgbClr val="1F7446"/>
                </a:solidFill>
              </a:defRPr>
            </a:pPr>
            <a:r>
              <a:t>TEAM</a:t>
            </a:r>
            <a:br/>
            <a:r>
              <a:t>ASGUARDIANS</a:t>
            </a:r>
          </a:p>
        </p:txBody>
      </p:sp>
      <p:sp>
        <p:nvSpPr>
          <p:cNvPr id="27" name="TextBox 26"/>
          <p:cNvSpPr txBox="1"/>
          <p:nvPr/>
        </p:nvSpPr>
        <p:spPr>
          <a:xfrm>
            <a:off x="731520" y="1847088"/>
            <a:ext cx="10698480" cy="347472"/>
          </a:xfrm>
          <a:prstGeom prst="rect">
            <a:avLst/>
          </a:prstGeom>
          <a:noFill/>
        </p:spPr>
        <p:txBody>
          <a:bodyPr wrap="square" anchor="ctr">
            <a:spAutoFit/>
          </a:bodyPr>
          <a:lstStyle/>
          <a:p>
            <a:pPr algn="ctr">
              <a:defRPr sz="1400" b="1">
                <a:solidFill>
                  <a:srgbClr val="04323B"/>
                </a:solidFill>
              </a:defRPr>
            </a:pPr>
            <a:r>
              <a:t>Typical user journey today</a:t>
            </a:r>
          </a:p>
        </p:txBody>
      </p:sp>
      <p:sp>
        <p:nvSpPr>
          <p:cNvPr id="28" name="Rounded Rectangle 27"/>
          <p:cNvSpPr/>
          <p:nvPr/>
        </p:nvSpPr>
        <p:spPr>
          <a:xfrm>
            <a:off x="627830" y="2262429"/>
            <a:ext cx="2331720" cy="182880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22376" y="2432303"/>
            <a:ext cx="64008" cy="1609344"/>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77824" y="2432303"/>
            <a:ext cx="2011679" cy="274320"/>
          </a:xfrm>
          <a:prstGeom prst="rect">
            <a:avLst/>
          </a:prstGeom>
          <a:noFill/>
        </p:spPr>
        <p:txBody>
          <a:bodyPr wrap="square" anchor="ctr">
            <a:spAutoFit/>
          </a:bodyPr>
          <a:lstStyle/>
          <a:p>
            <a:pPr algn="l">
              <a:defRPr sz="1250" b="1">
                <a:solidFill>
                  <a:srgbClr val="67BE37"/>
                </a:solidFill>
              </a:defRPr>
            </a:pPr>
            <a:r>
              <a:t>01  PARK</a:t>
            </a:r>
          </a:p>
        </p:txBody>
      </p:sp>
      <p:sp>
        <p:nvSpPr>
          <p:cNvPr id="31" name="TextBox 30"/>
          <p:cNvSpPr txBox="1"/>
          <p:nvPr/>
        </p:nvSpPr>
        <p:spPr>
          <a:xfrm>
            <a:off x="868680" y="2971800"/>
            <a:ext cx="2011679" cy="684803"/>
          </a:xfrm>
          <a:prstGeom prst="rect">
            <a:avLst/>
          </a:prstGeom>
          <a:noFill/>
        </p:spPr>
        <p:txBody>
          <a:bodyPr wrap="square" anchor="ctr">
            <a:spAutoFit/>
          </a:bodyPr>
          <a:lstStyle/>
          <a:p>
            <a:pPr>
              <a:spcAft>
                <a:spcPts val="300"/>
              </a:spcAft>
              <a:defRPr sz="1150" b="0">
                <a:solidFill>
                  <a:srgbClr val="213035"/>
                </a:solidFill>
              </a:defRPr>
            </a:pPr>
            <a:r>
              <a:rPr lang="en-IN" sz="1150" dirty="0">
                <a:solidFill>
                  <a:srgbClr val="213035"/>
                </a:solidFill>
              </a:rPr>
              <a:t>The owner chooses a suitable bicycle-parking location.</a:t>
            </a:r>
          </a:p>
          <a:p>
            <a:pPr algn="l">
              <a:spcAft>
                <a:spcPts val="300"/>
              </a:spcAft>
              <a:defRPr sz="1150" b="0">
                <a:solidFill>
                  <a:srgbClr val="213035"/>
                </a:solidFill>
              </a:defRPr>
            </a:pPr>
            <a:endParaRPr sz="1300" b="0" dirty="0">
              <a:solidFill>
                <a:srgbClr val="233135"/>
              </a:solidFill>
            </a:endParaRPr>
          </a:p>
        </p:txBody>
      </p:sp>
      <p:sp>
        <p:nvSpPr>
          <p:cNvPr id="32" name="Rounded Rectangle 31"/>
          <p:cNvSpPr/>
          <p:nvPr/>
        </p:nvSpPr>
        <p:spPr>
          <a:xfrm>
            <a:off x="3493008" y="2331720"/>
            <a:ext cx="2331720" cy="182880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3610931" y="2441448"/>
            <a:ext cx="64008" cy="1609344"/>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712463" y="2432303"/>
            <a:ext cx="2011679" cy="274320"/>
          </a:xfrm>
          <a:prstGeom prst="rect">
            <a:avLst/>
          </a:prstGeom>
          <a:noFill/>
        </p:spPr>
        <p:txBody>
          <a:bodyPr wrap="square" anchor="ctr">
            <a:spAutoFit/>
          </a:bodyPr>
          <a:lstStyle/>
          <a:p>
            <a:pPr algn="l">
              <a:defRPr sz="1250" b="1">
                <a:solidFill>
                  <a:srgbClr val="04323B"/>
                </a:solidFill>
              </a:defRPr>
            </a:pPr>
            <a:r>
              <a:t>02  LOCK</a:t>
            </a:r>
          </a:p>
        </p:txBody>
      </p:sp>
      <p:sp>
        <p:nvSpPr>
          <p:cNvPr id="35" name="TextBox 34"/>
          <p:cNvSpPr txBox="1"/>
          <p:nvPr/>
        </p:nvSpPr>
        <p:spPr>
          <a:xfrm>
            <a:off x="3712463" y="2942707"/>
            <a:ext cx="2011679" cy="623248"/>
          </a:xfrm>
          <a:prstGeom prst="rect">
            <a:avLst/>
          </a:prstGeom>
          <a:noFill/>
        </p:spPr>
        <p:txBody>
          <a:bodyPr wrap="square" anchor="ctr">
            <a:spAutoFit/>
          </a:bodyPr>
          <a:lstStyle/>
          <a:p>
            <a:pPr>
              <a:spcAft>
                <a:spcPts val="300"/>
              </a:spcAft>
              <a:defRPr sz="1150" b="0">
                <a:solidFill>
                  <a:srgbClr val="213035"/>
                </a:solidFill>
              </a:defRPr>
            </a:pPr>
            <a:r>
              <a:rPr lang="en-IN" sz="1150" dirty="0">
                <a:solidFill>
                  <a:srgbClr val="213035"/>
                </a:solidFill>
              </a:rPr>
              <a:t>The owner locks the bicycle, ideally securing the frame to a fixed bicycle rack.</a:t>
            </a:r>
            <a:endParaRPr sz="1200" b="0" dirty="0">
              <a:solidFill>
                <a:srgbClr val="233135"/>
              </a:solidFill>
            </a:endParaRPr>
          </a:p>
        </p:txBody>
      </p:sp>
      <p:sp>
        <p:nvSpPr>
          <p:cNvPr id="36" name="Rounded Rectangle 35"/>
          <p:cNvSpPr/>
          <p:nvPr/>
        </p:nvSpPr>
        <p:spPr>
          <a:xfrm>
            <a:off x="6327648" y="2331720"/>
            <a:ext cx="2331720" cy="182880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456699" y="2432304"/>
            <a:ext cx="64008" cy="1609344"/>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47104" y="2432303"/>
            <a:ext cx="2011679" cy="274320"/>
          </a:xfrm>
          <a:prstGeom prst="rect">
            <a:avLst/>
          </a:prstGeom>
          <a:noFill/>
        </p:spPr>
        <p:txBody>
          <a:bodyPr wrap="square" anchor="ctr">
            <a:spAutoFit/>
          </a:bodyPr>
          <a:lstStyle/>
          <a:p>
            <a:pPr algn="l">
              <a:defRPr sz="1250" b="1">
                <a:solidFill>
                  <a:srgbClr val="E2AA34"/>
                </a:solidFill>
              </a:defRPr>
            </a:pPr>
            <a:r>
              <a:t>03  LEAVE</a:t>
            </a:r>
          </a:p>
        </p:txBody>
      </p:sp>
      <p:sp>
        <p:nvSpPr>
          <p:cNvPr id="39" name="TextBox 38"/>
          <p:cNvSpPr txBox="1"/>
          <p:nvPr/>
        </p:nvSpPr>
        <p:spPr>
          <a:xfrm>
            <a:off x="6547104" y="2931260"/>
            <a:ext cx="2249424" cy="977191"/>
          </a:xfrm>
          <a:prstGeom prst="rect">
            <a:avLst/>
          </a:prstGeom>
          <a:noFill/>
        </p:spPr>
        <p:txBody>
          <a:bodyPr wrap="square" anchor="ctr">
            <a:spAutoFit/>
          </a:bodyPr>
          <a:lstStyle/>
          <a:p>
            <a:pPr>
              <a:spcAft>
                <a:spcPts val="300"/>
              </a:spcAft>
              <a:defRPr sz="1150" b="0">
                <a:solidFill>
                  <a:srgbClr val="213035"/>
                </a:solidFill>
              </a:defRPr>
            </a:pPr>
            <a:r>
              <a:rPr lang="en-IN" sz="1150" dirty="0">
                <a:solidFill>
                  <a:srgbClr val="213035"/>
                </a:solidFill>
              </a:rPr>
              <a:t>The bicycle remains unattended. With a conventional lock, the owner may not receive any immediate indication of tampering.</a:t>
            </a:r>
            <a:endParaRPr sz="1200" b="0" dirty="0">
              <a:solidFill>
                <a:srgbClr val="233135"/>
              </a:solidFill>
            </a:endParaRPr>
          </a:p>
        </p:txBody>
      </p:sp>
      <p:sp>
        <p:nvSpPr>
          <p:cNvPr id="40" name="Rounded Rectangle 39"/>
          <p:cNvSpPr/>
          <p:nvPr/>
        </p:nvSpPr>
        <p:spPr>
          <a:xfrm>
            <a:off x="9109148" y="2331720"/>
            <a:ext cx="2331720" cy="182880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1" name="Rounded Rectangle 40"/>
          <p:cNvSpPr/>
          <p:nvPr/>
        </p:nvSpPr>
        <p:spPr>
          <a:xfrm>
            <a:off x="9226296" y="2441448"/>
            <a:ext cx="64008" cy="1609344"/>
          </a:xfrm>
          <a:prstGeom prst="roundRect">
            <a:avLst/>
          </a:prstGeom>
          <a:solidFill>
            <a:srgbClr val="1F7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381744" y="2432303"/>
            <a:ext cx="2011679" cy="274320"/>
          </a:xfrm>
          <a:prstGeom prst="rect">
            <a:avLst/>
          </a:prstGeom>
          <a:noFill/>
        </p:spPr>
        <p:txBody>
          <a:bodyPr wrap="square" anchor="ctr">
            <a:spAutoFit/>
          </a:bodyPr>
          <a:lstStyle/>
          <a:p>
            <a:pPr algn="l">
              <a:defRPr sz="1250" b="1">
                <a:solidFill>
                  <a:srgbClr val="1F7446"/>
                </a:solidFill>
              </a:defRPr>
            </a:pPr>
            <a:r>
              <a:t>04  RETURN</a:t>
            </a:r>
          </a:p>
        </p:txBody>
      </p:sp>
      <p:sp>
        <p:nvSpPr>
          <p:cNvPr id="43" name="TextBox 42"/>
          <p:cNvSpPr txBox="1"/>
          <p:nvPr/>
        </p:nvSpPr>
        <p:spPr>
          <a:xfrm>
            <a:off x="9359746" y="2905193"/>
            <a:ext cx="2011679" cy="630942"/>
          </a:xfrm>
          <a:prstGeom prst="rect">
            <a:avLst/>
          </a:prstGeom>
          <a:noFill/>
        </p:spPr>
        <p:txBody>
          <a:bodyPr wrap="square" anchor="ctr">
            <a:spAutoFit/>
          </a:bodyPr>
          <a:lstStyle/>
          <a:p>
            <a:pPr>
              <a:spcAft>
                <a:spcPts val="300"/>
              </a:spcAft>
              <a:defRPr sz="1150" b="0">
                <a:solidFill>
                  <a:srgbClr val="213035"/>
                </a:solidFill>
              </a:defRPr>
            </a:pPr>
            <a:r>
              <a:rPr lang="en-IN" sz="1150" dirty="0">
                <a:solidFill>
                  <a:srgbClr val="213035"/>
                </a:solidFill>
              </a:rPr>
              <a:t>The owner checks whether the bicycle is present and the lock is intact.</a:t>
            </a:r>
            <a:endParaRPr sz="1200" b="0" dirty="0">
              <a:solidFill>
                <a:srgbClr val="233135"/>
              </a:solidFill>
            </a:endParaRPr>
          </a:p>
        </p:txBody>
      </p:sp>
      <p:sp>
        <p:nvSpPr>
          <p:cNvPr id="44" name="Rounded Rectangle 43"/>
          <p:cNvSpPr/>
          <p:nvPr/>
        </p:nvSpPr>
        <p:spPr>
          <a:xfrm>
            <a:off x="577796" y="4286876"/>
            <a:ext cx="10863072" cy="1338887"/>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722376" y="4517136"/>
            <a:ext cx="64008" cy="923544"/>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51132" y="4315866"/>
            <a:ext cx="10543032" cy="274320"/>
          </a:xfrm>
          <a:prstGeom prst="rect">
            <a:avLst/>
          </a:prstGeom>
          <a:noFill/>
        </p:spPr>
        <p:txBody>
          <a:bodyPr wrap="square" anchor="ctr">
            <a:spAutoFit/>
          </a:bodyPr>
          <a:lstStyle/>
          <a:p>
            <a:pPr algn="l">
              <a:defRPr sz="1350" b="1">
                <a:solidFill>
                  <a:srgbClr val="E2AA34"/>
                </a:solidFill>
              </a:defRPr>
            </a:pPr>
            <a:r>
              <a:rPr dirty="0"/>
              <a:t>WHERE THE RISK APPEARS</a:t>
            </a:r>
          </a:p>
        </p:txBody>
      </p:sp>
      <p:sp>
        <p:nvSpPr>
          <p:cNvPr id="47" name="TextBox 46"/>
          <p:cNvSpPr txBox="1"/>
          <p:nvPr/>
        </p:nvSpPr>
        <p:spPr>
          <a:xfrm>
            <a:off x="815140" y="4517136"/>
            <a:ext cx="10750182" cy="1284967"/>
          </a:xfrm>
          <a:prstGeom prst="rect">
            <a:avLst/>
          </a:prstGeom>
          <a:noFill/>
        </p:spPr>
        <p:txBody>
          <a:bodyPr wrap="square" anchor="ctr">
            <a:normAutofit/>
          </a:bodyPr>
          <a:lstStyle/>
          <a:p>
            <a:pPr>
              <a:spcAft>
                <a:spcPts val="150"/>
              </a:spcAft>
            </a:pPr>
            <a:r>
              <a:rPr sz="1200">
                <a:latin typeface="Aptos"/>
              </a:rPr>
              <a:t>During unattended parking, the owner may not notice suspicious movement. A motion-triggered alarm can provide a local warning, while the physical lock remains the main restraint. If RFID or power fails, a mechanical combination backup should still release the locking bolt.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
        <p:nvSpPr>
          <p:cNvPr id="26" name="TextBox 25"/>
          <p:cNvSpPr txBox="1"/>
          <p:nvPr/>
        </p:nvSpPr>
        <p:spPr>
          <a:xfrm>
            <a:off x="1325880" y="347472"/>
            <a:ext cx="1737360" cy="502920"/>
          </a:xfrm>
          <a:prstGeom prst="rect">
            <a:avLst/>
          </a:prstGeom>
          <a:noFill/>
        </p:spPr>
        <p:txBody>
          <a:bodyPr wrap="square" anchor="ctr">
            <a:spAutoFit/>
          </a:bodyPr>
          <a:lstStyle/>
          <a:p>
            <a:pPr algn="ctr">
              <a:defRPr sz="950" b="1">
                <a:solidFill>
                  <a:srgbClr val="1F7446"/>
                </a:solidFill>
              </a:defRPr>
            </a:pPr>
            <a:r>
              <a:t>TEAM</a:t>
            </a:r>
            <a:br/>
            <a:r>
              <a:t>ASGUARDIANS</a:t>
            </a:r>
          </a:p>
        </p:txBody>
      </p:sp>
      <p:sp>
        <p:nvSpPr>
          <p:cNvPr id="27" name="Rounded Rectangle 26"/>
          <p:cNvSpPr/>
          <p:nvPr/>
        </p:nvSpPr>
        <p:spPr>
          <a:xfrm>
            <a:off x="658368" y="1901952"/>
            <a:ext cx="3456432" cy="2487168"/>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22376" y="2011680"/>
            <a:ext cx="64008" cy="2267712"/>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77824" y="1885781"/>
            <a:ext cx="3300984" cy="507831"/>
          </a:xfrm>
          <a:prstGeom prst="rect">
            <a:avLst/>
          </a:prstGeom>
          <a:noFill/>
        </p:spPr>
        <p:txBody>
          <a:bodyPr wrap="square" anchor="ctr">
            <a:spAutoFit/>
          </a:bodyPr>
          <a:lstStyle/>
          <a:p>
            <a:pPr>
              <a:defRPr sz="1350" b="1">
                <a:solidFill>
                  <a:srgbClr val="67BE37"/>
                </a:solidFill>
              </a:defRPr>
            </a:pPr>
            <a:r>
              <a:rPr lang="en-IN" sz="1350" b="1" dirty="0">
                <a:solidFill>
                  <a:srgbClr val="67BE37"/>
                </a:solidFill>
              </a:rPr>
              <a:t>1. PHYSICAL SECURITY</a:t>
            </a:r>
          </a:p>
          <a:p>
            <a:pPr algn="l">
              <a:defRPr sz="1350" b="1">
                <a:solidFill>
                  <a:srgbClr val="67BE37"/>
                </a:solidFill>
              </a:defRPr>
            </a:pPr>
            <a:endParaRPr dirty="0"/>
          </a:p>
        </p:txBody>
      </p:sp>
      <p:sp>
        <p:nvSpPr>
          <p:cNvPr id="30" name="TextBox 29"/>
          <p:cNvSpPr txBox="1"/>
          <p:nvPr/>
        </p:nvSpPr>
        <p:spPr>
          <a:xfrm>
            <a:off x="877824" y="2534442"/>
            <a:ext cx="3136391" cy="1569660"/>
          </a:xfrm>
          <a:prstGeom prst="rect">
            <a:avLst/>
          </a:prstGeom>
          <a:noFill/>
        </p:spPr>
        <p:txBody>
          <a:bodyPr wrap="square" anchor="ctr">
            <a:spAutoFit/>
          </a:bodyPr>
          <a:lstStyle/>
          <a:p>
            <a:pPr marL="228600" lvl="0" indent="-228600">
              <a:buFont typeface="+mj-lt"/>
              <a:buAutoNum type="arabicPeriod"/>
            </a:pPr>
            <a:r>
              <a:rPr lang="en-IN" sz="1200" dirty="0"/>
              <a:t>Cable and chain locks vary in their resistance to cutting and forced opening.</a:t>
            </a:r>
          </a:p>
          <a:p>
            <a:pPr marL="228600" lvl="0" indent="-228600">
              <a:buFont typeface="+mj-lt"/>
              <a:buAutoNum type="arabicPeriod"/>
            </a:pPr>
            <a:r>
              <a:rPr lang="en-IN" sz="1200" dirty="0"/>
              <a:t>Even a strong lock may be ineffective if the bicycle is attached incorrectly.</a:t>
            </a:r>
          </a:p>
          <a:p>
            <a:pPr marL="228600" lvl="0" indent="-228600">
              <a:buFont typeface="+mj-lt"/>
              <a:buAutoNum type="arabicPeriod"/>
            </a:pPr>
            <a:r>
              <a:rPr lang="en-IN" sz="1200" dirty="0"/>
              <a:t>A motion alarm can warn people, but it cannot physically prevent a determined thief from defeating the lock.</a:t>
            </a:r>
          </a:p>
          <a:p>
            <a:pPr marL="228600" indent="-228600" algn="l">
              <a:spcAft>
                <a:spcPts val="300"/>
              </a:spcAft>
              <a:buFont typeface="+mj-lt"/>
              <a:buAutoNum type="arabicPeriod"/>
              <a:defRPr sz="1250" b="0">
                <a:solidFill>
                  <a:srgbClr val="213035"/>
                </a:solidFill>
              </a:defRPr>
            </a:pPr>
            <a:endParaRPr sz="1200" b="0" dirty="0">
              <a:solidFill>
                <a:srgbClr val="233135"/>
              </a:solidFill>
            </a:endParaRPr>
          </a:p>
        </p:txBody>
      </p:sp>
      <p:sp>
        <p:nvSpPr>
          <p:cNvPr id="31" name="Rounded Rectangle 30"/>
          <p:cNvSpPr/>
          <p:nvPr/>
        </p:nvSpPr>
        <p:spPr>
          <a:xfrm>
            <a:off x="4361688" y="1901952"/>
            <a:ext cx="3456432" cy="2487168"/>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2" name="Rounded Rectangle 31"/>
          <p:cNvSpPr/>
          <p:nvPr/>
        </p:nvSpPr>
        <p:spPr>
          <a:xfrm>
            <a:off x="4425696" y="2011680"/>
            <a:ext cx="64008" cy="2267712"/>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81144" y="1989655"/>
            <a:ext cx="3136391" cy="300082"/>
          </a:xfrm>
          <a:prstGeom prst="rect">
            <a:avLst/>
          </a:prstGeom>
          <a:noFill/>
        </p:spPr>
        <p:txBody>
          <a:bodyPr wrap="square" anchor="ctr">
            <a:spAutoFit/>
          </a:bodyPr>
          <a:lstStyle/>
          <a:p>
            <a:pPr>
              <a:defRPr sz="1350" b="1">
                <a:solidFill>
                  <a:srgbClr val="04323B"/>
                </a:solidFill>
              </a:defRPr>
            </a:pPr>
            <a:r>
              <a:rPr lang="en-IN" sz="1350" b="1" dirty="0">
                <a:solidFill>
                  <a:srgbClr val="04323B"/>
                </a:solidFill>
              </a:rPr>
              <a:t>2. DETECTION AND USER EXPERIENCE</a:t>
            </a:r>
            <a:endParaRPr dirty="0"/>
          </a:p>
        </p:txBody>
      </p:sp>
      <p:sp>
        <p:nvSpPr>
          <p:cNvPr id="34" name="TextBox 33"/>
          <p:cNvSpPr txBox="1"/>
          <p:nvPr/>
        </p:nvSpPr>
        <p:spPr>
          <a:xfrm>
            <a:off x="4581144" y="2534442"/>
            <a:ext cx="3136391" cy="1569660"/>
          </a:xfrm>
          <a:prstGeom prst="rect">
            <a:avLst/>
          </a:prstGeom>
          <a:noFill/>
        </p:spPr>
        <p:txBody>
          <a:bodyPr wrap="square" anchor="ctr">
            <a:spAutoFit/>
          </a:bodyPr>
          <a:lstStyle/>
          <a:p>
            <a:pPr marL="228600" lvl="0" indent="-228600">
              <a:buFont typeface="+mj-lt"/>
              <a:buAutoNum type="arabicPeriod"/>
            </a:pPr>
            <a:r>
              <a:rPr lang="en-IN" sz="1200" dirty="0"/>
              <a:t>The system must detect suspicious movement without generating excessive false alarms.</a:t>
            </a:r>
          </a:p>
          <a:p>
            <a:pPr marL="228600" lvl="0" indent="-228600">
              <a:buFont typeface="+mj-lt"/>
              <a:buAutoNum type="arabicPeriod"/>
            </a:pPr>
            <a:r>
              <a:rPr lang="en-IN" sz="1200" dirty="0"/>
              <a:t>The owner must be able to lock and unlock the bicycle quickly.</a:t>
            </a:r>
          </a:p>
          <a:p>
            <a:pPr marL="228600" lvl="0" indent="-228600">
              <a:buFont typeface="+mj-lt"/>
              <a:buAutoNum type="arabicPeriod"/>
            </a:pPr>
            <a:r>
              <a:rPr lang="en-IN" sz="1200" dirty="0"/>
              <a:t>The warning must be audible and the locked state must be clear.</a:t>
            </a:r>
          </a:p>
          <a:p>
            <a:pPr marL="228600" indent="-228600" algn="l">
              <a:spcAft>
                <a:spcPts val="300"/>
              </a:spcAft>
              <a:buFont typeface="+mj-lt"/>
              <a:buAutoNum type="arabicPeriod"/>
              <a:defRPr sz="1250" b="0">
                <a:solidFill>
                  <a:srgbClr val="213035"/>
                </a:solidFill>
              </a:defRPr>
            </a:pPr>
            <a:endParaRPr sz="1200" b="0" dirty="0">
              <a:solidFill>
                <a:srgbClr val="233135"/>
              </a:solidFill>
            </a:endParaRPr>
          </a:p>
        </p:txBody>
      </p:sp>
      <p:sp>
        <p:nvSpPr>
          <p:cNvPr id="35" name="Rounded Rectangle 34"/>
          <p:cNvSpPr/>
          <p:nvPr/>
        </p:nvSpPr>
        <p:spPr>
          <a:xfrm>
            <a:off x="8065008" y="1901952"/>
            <a:ext cx="3456432" cy="2487168"/>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129016" y="2011680"/>
            <a:ext cx="64008" cy="2267712"/>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84464" y="1963504"/>
            <a:ext cx="3907536" cy="507831"/>
          </a:xfrm>
          <a:prstGeom prst="rect">
            <a:avLst/>
          </a:prstGeom>
          <a:noFill/>
        </p:spPr>
        <p:txBody>
          <a:bodyPr wrap="square" anchor="ctr">
            <a:spAutoFit/>
          </a:bodyPr>
          <a:lstStyle/>
          <a:p>
            <a:pPr>
              <a:defRPr sz="1350" b="1">
                <a:solidFill>
                  <a:srgbClr val="E2AA34"/>
                </a:solidFill>
              </a:defRPr>
            </a:pPr>
            <a:r>
              <a:rPr lang="en-IN" sz="1350" b="1" dirty="0">
                <a:solidFill>
                  <a:srgbClr val="E2AA34"/>
                </a:solidFill>
              </a:rPr>
              <a:t>3. ELECTRONIC RELIABILITY</a:t>
            </a:r>
          </a:p>
          <a:p>
            <a:pPr algn="l">
              <a:defRPr sz="1350" b="1">
                <a:solidFill>
                  <a:srgbClr val="E2AA34"/>
                </a:solidFill>
              </a:defRPr>
            </a:pPr>
            <a:endParaRPr dirty="0"/>
          </a:p>
        </p:txBody>
      </p:sp>
      <p:sp>
        <p:nvSpPr>
          <p:cNvPr id="38" name="TextBox 37"/>
          <p:cNvSpPr txBox="1"/>
          <p:nvPr/>
        </p:nvSpPr>
        <p:spPr>
          <a:xfrm>
            <a:off x="8284464" y="2534441"/>
            <a:ext cx="3136391" cy="1569660"/>
          </a:xfrm>
          <a:prstGeom prst="rect">
            <a:avLst/>
          </a:prstGeom>
          <a:noFill/>
        </p:spPr>
        <p:txBody>
          <a:bodyPr wrap="square" anchor="ctr">
            <a:spAutoFit/>
          </a:bodyPr>
          <a:lstStyle/>
          <a:p>
            <a:pPr marL="228600" lvl="0" indent="-228600">
              <a:buFont typeface="+mj-lt"/>
              <a:buAutoNum type="arabicPeriod"/>
            </a:pPr>
            <a:r>
              <a:rPr lang="en-IN" sz="1200" dirty="0"/>
              <a:t>The sensor, controller and alarm require a reliable power supply.</a:t>
            </a:r>
          </a:p>
          <a:p>
            <a:pPr marL="228600" lvl="0" indent="-228600">
              <a:buFont typeface="+mj-lt"/>
              <a:buAutoNum type="arabicPeriod"/>
            </a:pPr>
            <a:r>
              <a:rPr lang="en-IN" sz="1200" dirty="0"/>
              <a:t>Rain, dust and vibration can affect electronic components.</a:t>
            </a:r>
          </a:p>
          <a:p>
            <a:pPr marL="228600" lvl="0" indent="-228600">
              <a:buFont typeface="+mj-lt"/>
              <a:buAutoNum type="arabicPeriod"/>
            </a:pPr>
            <a:r>
              <a:rPr lang="en-IN" sz="1200" dirty="0"/>
              <a:t>The system must account for low battery, sensor faults and authorised access if electronics fail.</a:t>
            </a:r>
          </a:p>
          <a:p>
            <a:pPr marL="228600" indent="-228600" algn="l">
              <a:spcAft>
                <a:spcPts val="300"/>
              </a:spcAft>
              <a:buFont typeface="+mj-lt"/>
              <a:buAutoNum type="arabicPeriod"/>
              <a:defRPr sz="1250" b="0">
                <a:solidFill>
                  <a:srgbClr val="213035"/>
                </a:solidFill>
              </a:defRPr>
            </a:pPr>
            <a:endParaRPr sz="1200" b="0" dirty="0">
              <a:solidFill>
                <a:srgbClr val="233135"/>
              </a:solidFill>
            </a:endParaRPr>
          </a:p>
        </p:txBody>
      </p:sp>
      <p:sp>
        <p:nvSpPr>
          <p:cNvPr id="39" name="TextBox 38"/>
          <p:cNvSpPr txBox="1"/>
          <p:nvPr/>
        </p:nvSpPr>
        <p:spPr>
          <a:xfrm>
            <a:off x="822960" y="4729787"/>
            <a:ext cx="10332720" cy="461665"/>
          </a:xfrm>
          <a:prstGeom prst="rect">
            <a:avLst/>
          </a:prstGeom>
          <a:noFill/>
        </p:spPr>
        <p:txBody>
          <a:bodyPr wrap="square" anchor="ctr">
            <a:spAutoFit/>
          </a:bodyPr>
          <a:lstStyle/>
          <a:p>
            <a:pPr algn="ctr">
              <a:spcAft>
                <a:spcPts val="300"/>
              </a:spcAft>
              <a:defRPr sz="1400" b="1">
                <a:solidFill>
                  <a:srgbClr val="1F7446"/>
                </a:solidFill>
              </a:defRPr>
            </a:pPr>
            <a:r>
              <a:rPr sz="1200" b="1" dirty="0">
                <a:solidFill>
                  <a:srgbClr val="1F7446"/>
                </a:solidFill>
              </a:rPr>
              <a:t>ROOT CAUSES</a:t>
            </a:r>
            <a:r>
              <a:rPr lang="en-IN" sz="1200" b="1" dirty="0">
                <a:solidFill>
                  <a:srgbClr val="1F7446"/>
                </a:solidFill>
              </a:rPr>
              <a:t>: </a:t>
            </a:r>
            <a:r>
              <a:rPr lang="en-IN" sz="1200" dirty="0">
                <a:solidFill>
                  <a:srgbClr val="1F7446"/>
                </a:solidFill>
              </a:rPr>
              <a:t>Bicycle theft is not caused by a single factor. Lock resistance, attachment quality, parking conditions, user behaviour and the time available to an offender all affect security.</a:t>
            </a:r>
            <a:endParaRPr sz="1200" dirty="0">
              <a:solidFill>
                <a:srgbClr val="1F744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
        <p:nvSpPr>
          <p:cNvPr id="26" name="TextBox 25"/>
          <p:cNvSpPr txBox="1"/>
          <p:nvPr/>
        </p:nvSpPr>
        <p:spPr>
          <a:xfrm>
            <a:off x="1325880" y="347472"/>
            <a:ext cx="1737360" cy="502920"/>
          </a:xfrm>
          <a:prstGeom prst="rect">
            <a:avLst/>
          </a:prstGeom>
          <a:noFill/>
        </p:spPr>
        <p:txBody>
          <a:bodyPr wrap="square" anchor="ctr">
            <a:spAutoFit/>
          </a:bodyPr>
          <a:lstStyle/>
          <a:p>
            <a:pPr algn="ctr">
              <a:defRPr sz="950" b="1">
                <a:solidFill>
                  <a:srgbClr val="1F7446"/>
                </a:solidFill>
              </a:defRPr>
            </a:pPr>
            <a:r>
              <a:t>TEAM</a:t>
            </a:r>
            <a:br/>
            <a:r>
              <a:t>ASGUARDIANS</a:t>
            </a:r>
          </a:p>
        </p:txBody>
      </p:sp>
      <p:sp>
        <p:nvSpPr>
          <p:cNvPr id="27" name="TextBox 26"/>
          <p:cNvSpPr txBox="1"/>
          <p:nvPr/>
        </p:nvSpPr>
        <p:spPr>
          <a:xfrm>
            <a:off x="731520" y="1847088"/>
            <a:ext cx="10698480" cy="320040"/>
          </a:xfrm>
          <a:prstGeom prst="rect">
            <a:avLst/>
          </a:prstGeom>
          <a:noFill/>
        </p:spPr>
        <p:txBody>
          <a:bodyPr wrap="square" anchor="ctr">
            <a:spAutoFit/>
          </a:bodyPr>
          <a:lstStyle/>
          <a:p>
            <a:pPr algn="ctr">
              <a:defRPr sz="1400" b="1">
                <a:solidFill>
                  <a:srgbClr val="04323B"/>
                </a:solidFill>
              </a:defRPr>
            </a:pPr>
            <a:r>
              <a:t>What current approaches do well — and where they leave a gap</a:t>
            </a:r>
          </a:p>
        </p:txBody>
      </p:sp>
      <p:sp>
        <p:nvSpPr>
          <p:cNvPr id="28" name="Rounded Rectangle 27"/>
          <p:cNvSpPr/>
          <p:nvPr/>
        </p:nvSpPr>
        <p:spPr>
          <a:xfrm>
            <a:off x="658368" y="2212848"/>
            <a:ext cx="2514600" cy="19659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22376" y="2322576"/>
            <a:ext cx="64008" cy="1746504"/>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77824" y="2313432"/>
            <a:ext cx="2194560" cy="274320"/>
          </a:xfrm>
          <a:prstGeom prst="rect">
            <a:avLst/>
          </a:prstGeom>
          <a:noFill/>
        </p:spPr>
        <p:txBody>
          <a:bodyPr wrap="square" anchor="ctr">
            <a:spAutoFit/>
          </a:bodyPr>
          <a:lstStyle/>
          <a:p>
            <a:pPr algn="l">
              <a:defRPr sz="1250" b="1">
                <a:solidFill>
                  <a:srgbClr val="67BE37"/>
                </a:solidFill>
              </a:defRPr>
            </a:pPr>
            <a:r>
              <a:t>CABLE / CHAIN</a:t>
            </a:r>
          </a:p>
        </p:txBody>
      </p:sp>
      <p:sp>
        <p:nvSpPr>
          <p:cNvPr id="31" name="TextBox 30"/>
          <p:cNvSpPr txBox="1"/>
          <p:nvPr/>
        </p:nvSpPr>
        <p:spPr>
          <a:xfrm>
            <a:off x="877824" y="2561650"/>
            <a:ext cx="2194560" cy="1615827"/>
          </a:xfrm>
          <a:prstGeom prst="rect">
            <a:avLst/>
          </a:prstGeom>
          <a:noFill/>
        </p:spPr>
        <p:txBody>
          <a:bodyPr wrap="square" anchor="ctr">
            <a:spAutoFit/>
          </a:bodyPr>
          <a:lstStyle/>
          <a:p>
            <a:r>
              <a:rPr lang="en-IN" sz="1100" dirty="0"/>
              <a:t>Physically restrain the bicycle and can connect it to a fixed anchor.</a:t>
            </a:r>
          </a:p>
          <a:p>
            <a:endParaRPr lang="en-IN" sz="1100" dirty="0"/>
          </a:p>
          <a:p>
            <a:r>
              <a:rPr lang="en-IN" sz="1100" b="1" dirty="0"/>
              <a:t>Limitation:</a:t>
            </a:r>
            <a:r>
              <a:rPr lang="en-IN" sz="1100" dirty="0"/>
              <a:t> Security depends on material strength, lock quality and correct attachment. Conventional models generally do not provide movement alerts.</a:t>
            </a:r>
          </a:p>
          <a:p>
            <a:pPr algn="l">
              <a:spcAft>
                <a:spcPts val="300"/>
              </a:spcAft>
              <a:defRPr sz="1150" b="0">
                <a:solidFill>
                  <a:srgbClr val="213035"/>
                </a:solidFill>
              </a:defRPr>
            </a:pPr>
            <a:endParaRPr sz="1100" b="0" dirty="0">
              <a:solidFill>
                <a:srgbClr val="233135"/>
              </a:solidFill>
            </a:endParaRPr>
          </a:p>
        </p:txBody>
      </p:sp>
      <p:sp>
        <p:nvSpPr>
          <p:cNvPr id="32" name="Rounded Rectangle 31"/>
          <p:cNvSpPr/>
          <p:nvPr/>
        </p:nvSpPr>
        <p:spPr>
          <a:xfrm>
            <a:off x="3310128" y="2212848"/>
            <a:ext cx="2514600" cy="19659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3374136" y="2322576"/>
            <a:ext cx="64008" cy="1746504"/>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529584" y="2313432"/>
            <a:ext cx="2194560" cy="274320"/>
          </a:xfrm>
          <a:prstGeom prst="rect">
            <a:avLst/>
          </a:prstGeom>
          <a:noFill/>
        </p:spPr>
        <p:txBody>
          <a:bodyPr wrap="square" anchor="ctr">
            <a:spAutoFit/>
          </a:bodyPr>
          <a:lstStyle/>
          <a:p>
            <a:pPr algn="l">
              <a:defRPr sz="1250" b="1">
                <a:solidFill>
                  <a:srgbClr val="04323B"/>
                </a:solidFill>
              </a:defRPr>
            </a:pPr>
            <a:r>
              <a:t>U-LOCK</a:t>
            </a:r>
          </a:p>
        </p:txBody>
      </p:sp>
      <p:sp>
        <p:nvSpPr>
          <p:cNvPr id="35" name="TextBox 34"/>
          <p:cNvSpPr txBox="1"/>
          <p:nvPr/>
        </p:nvSpPr>
        <p:spPr>
          <a:xfrm>
            <a:off x="3529584" y="2561650"/>
            <a:ext cx="2194560" cy="1615827"/>
          </a:xfrm>
          <a:prstGeom prst="rect">
            <a:avLst/>
          </a:prstGeom>
          <a:noFill/>
        </p:spPr>
        <p:txBody>
          <a:bodyPr wrap="square" anchor="ctr">
            <a:spAutoFit/>
          </a:bodyPr>
          <a:lstStyle/>
          <a:p>
            <a:r>
              <a:rPr lang="en-IN" sz="1100" dirty="0"/>
              <a:t>Widely recommended in university bicycle-security guidance.</a:t>
            </a:r>
          </a:p>
          <a:p>
            <a:endParaRPr lang="en-IN" sz="1100" dirty="0"/>
          </a:p>
          <a:p>
            <a:r>
              <a:rPr lang="en-IN" sz="1100" b="1" dirty="0"/>
              <a:t>Limitation:</a:t>
            </a:r>
            <a:r>
              <a:rPr lang="en-IN" sz="1100" dirty="0"/>
              <a:t> Fit and placement depend on the bicycle frame and available anchor. A conventional U-lock does not normally notify the owner of tampering.</a:t>
            </a:r>
          </a:p>
          <a:p>
            <a:pPr algn="l">
              <a:spcAft>
                <a:spcPts val="300"/>
              </a:spcAft>
              <a:defRPr sz="1150" b="0">
                <a:solidFill>
                  <a:srgbClr val="213035"/>
                </a:solidFill>
              </a:defRPr>
            </a:pPr>
            <a:endParaRPr sz="1100" b="0" dirty="0">
              <a:solidFill>
                <a:srgbClr val="233135"/>
              </a:solidFill>
            </a:endParaRPr>
          </a:p>
        </p:txBody>
      </p:sp>
      <p:sp>
        <p:nvSpPr>
          <p:cNvPr id="36" name="Rounded Rectangle 35"/>
          <p:cNvSpPr/>
          <p:nvPr/>
        </p:nvSpPr>
        <p:spPr>
          <a:xfrm>
            <a:off x="5961888" y="2212848"/>
            <a:ext cx="2514600" cy="19659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025896" y="2322576"/>
            <a:ext cx="64008" cy="1746504"/>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81344" y="2308246"/>
            <a:ext cx="2651760" cy="284693"/>
          </a:xfrm>
          <a:prstGeom prst="rect">
            <a:avLst/>
          </a:prstGeom>
          <a:noFill/>
        </p:spPr>
        <p:txBody>
          <a:bodyPr wrap="square" anchor="ctr">
            <a:spAutoFit/>
          </a:bodyPr>
          <a:lstStyle/>
          <a:p>
            <a:pPr>
              <a:defRPr sz="1250" b="1">
                <a:solidFill>
                  <a:srgbClr val="E2AA34"/>
                </a:solidFill>
              </a:defRPr>
            </a:pPr>
            <a:r>
              <a:rPr lang="en-IN" sz="1250" b="1" dirty="0">
                <a:solidFill>
                  <a:srgbClr val="E2AA34"/>
                </a:solidFill>
              </a:rPr>
              <a:t>SEPARATE VIBRATION ALARMS</a:t>
            </a:r>
            <a:endParaRPr dirty="0"/>
          </a:p>
        </p:txBody>
      </p:sp>
      <p:sp>
        <p:nvSpPr>
          <p:cNvPr id="40" name="Rounded Rectangle 39"/>
          <p:cNvSpPr/>
          <p:nvPr/>
        </p:nvSpPr>
        <p:spPr>
          <a:xfrm>
            <a:off x="8613648" y="2212848"/>
            <a:ext cx="2907792" cy="19659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8677656" y="2322576"/>
            <a:ext cx="64008" cy="1746504"/>
          </a:xfrm>
          <a:prstGeom prst="roundRect">
            <a:avLst/>
          </a:prstGeom>
          <a:solidFill>
            <a:srgbClr val="1F7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833104" y="2313432"/>
            <a:ext cx="2587752" cy="274320"/>
          </a:xfrm>
          <a:prstGeom prst="rect">
            <a:avLst/>
          </a:prstGeom>
          <a:noFill/>
        </p:spPr>
        <p:txBody>
          <a:bodyPr wrap="square" anchor="ctr">
            <a:spAutoFit/>
          </a:bodyPr>
          <a:lstStyle/>
          <a:p>
            <a:pPr algn="l">
              <a:defRPr sz="1250" b="1">
                <a:solidFill>
                  <a:srgbClr val="1F7446"/>
                </a:solidFill>
              </a:defRPr>
            </a:pPr>
            <a:r>
              <a:t>SMART / BIOMETRIC</a:t>
            </a:r>
          </a:p>
        </p:txBody>
      </p:sp>
      <p:sp>
        <p:nvSpPr>
          <p:cNvPr id="43" name="TextBox 42"/>
          <p:cNvSpPr txBox="1"/>
          <p:nvPr/>
        </p:nvSpPr>
        <p:spPr>
          <a:xfrm>
            <a:off x="8833104" y="2561650"/>
            <a:ext cx="2587752" cy="1615827"/>
          </a:xfrm>
          <a:prstGeom prst="rect">
            <a:avLst/>
          </a:prstGeom>
          <a:noFill/>
        </p:spPr>
        <p:txBody>
          <a:bodyPr wrap="square" anchor="ctr">
            <a:spAutoFit/>
          </a:bodyPr>
          <a:lstStyle/>
          <a:p>
            <a:r>
              <a:rPr lang="en-IN" sz="1100" b="1" dirty="0"/>
              <a:t>Deeper Lock:</a:t>
            </a:r>
            <a:r>
              <a:rPr lang="en-IN" sz="1100" dirty="0"/>
              <a:t> Its product information describes a reinforced-steel lock, motion-triggered alerts and a 110 dB alarm. The PRO+ model also includes GPS tracking.</a:t>
            </a:r>
          </a:p>
          <a:p>
            <a:r>
              <a:rPr lang="en-IN" sz="1100" b="1" dirty="0"/>
              <a:t>Alarm </a:t>
            </a:r>
            <a:r>
              <a:rPr lang="en-IN" sz="1100" b="1" dirty="0" err="1"/>
              <a:t>O'Lock</a:t>
            </a:r>
            <a:r>
              <a:rPr lang="en-IN" sz="1100" b="1" dirty="0"/>
              <a:t>:</a:t>
            </a:r>
            <a:r>
              <a:rPr lang="en-IN" sz="1100" dirty="0"/>
              <a:t> Its listed smart bicycle-lock products describe RFID or Bluetooth access, vibration alarms and weather-resistant designs.</a:t>
            </a:r>
          </a:p>
          <a:p>
            <a:pPr algn="l">
              <a:spcAft>
                <a:spcPts val="300"/>
              </a:spcAft>
              <a:defRPr sz="1150" b="0">
                <a:solidFill>
                  <a:srgbClr val="213035"/>
                </a:solidFill>
              </a:defRPr>
            </a:pPr>
            <a:endParaRPr sz="1100" b="0" dirty="0">
              <a:solidFill>
                <a:srgbClr val="233135"/>
              </a:solidFill>
            </a:endParaRPr>
          </a:p>
        </p:txBody>
      </p:sp>
      <p:sp>
        <p:nvSpPr>
          <p:cNvPr id="44" name="Rounded Rectangle 43"/>
          <p:cNvSpPr/>
          <p:nvPr/>
        </p:nvSpPr>
        <p:spPr>
          <a:xfrm>
            <a:off x="658368" y="4434840"/>
            <a:ext cx="10863072" cy="1078992"/>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722376" y="4544568"/>
            <a:ext cx="64008" cy="859536"/>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77824" y="4535424"/>
            <a:ext cx="10543032" cy="274320"/>
          </a:xfrm>
          <a:prstGeom prst="rect">
            <a:avLst/>
          </a:prstGeom>
          <a:noFill/>
        </p:spPr>
        <p:txBody>
          <a:bodyPr wrap="square" anchor="ctr">
            <a:spAutoFit/>
          </a:bodyPr>
          <a:lstStyle/>
          <a:p>
            <a:pPr algn="l">
              <a:defRPr sz="1400" b="1">
                <a:solidFill>
                  <a:srgbClr val="E2AA34"/>
                </a:solidFill>
              </a:defRPr>
            </a:pPr>
            <a:r>
              <a:t>THE GAP WE IDENTIFIED</a:t>
            </a:r>
          </a:p>
        </p:txBody>
      </p:sp>
      <p:sp>
        <p:nvSpPr>
          <p:cNvPr id="47" name="TextBox 46"/>
          <p:cNvSpPr txBox="1"/>
          <p:nvPr/>
        </p:nvSpPr>
        <p:spPr>
          <a:xfrm>
            <a:off x="877824" y="4901850"/>
            <a:ext cx="10543032" cy="492443"/>
          </a:xfrm>
          <a:prstGeom prst="rect">
            <a:avLst/>
          </a:prstGeom>
          <a:noFill/>
        </p:spPr>
        <p:txBody>
          <a:bodyPr wrap="square" anchor="ctr">
            <a:normAutofit/>
          </a:bodyPr>
          <a:lstStyle/>
          <a:p>
            <a:pPr>
              <a:spcAft>
                <a:spcPts val="150"/>
              </a:spcAft>
              <a:defRPr sz="1300" b="0">
                <a:solidFill>
                  <a:srgbClr val="213035"/>
                </a:solidFill>
              </a:defRPr>
            </a:pPr>
            <a:r>
              <a:rPr sz="1300">
                <a:latin typeface="Aptos"/>
              </a:rPr>
              <a:t>Develop and test a focused Smart Motion Lock combining physical restraint, RFID access, a resettable mechanical combination that releases the bolt without electrical power, and a motion-triggered local warning.</a:t>
            </a:r>
            <a:endParaRPr sz="1200" b="1" dirty="0">
              <a:solidFill>
                <a:srgbClr val="1F7446"/>
              </a:solidFill>
            </a:endParaRPr>
          </a:p>
        </p:txBody>
      </p:sp>
      <p:sp>
        <p:nvSpPr>
          <p:cNvPr id="12" name="TextBox 11">
            <a:extLst>
              <a:ext uri="{FF2B5EF4-FFF2-40B4-BE49-F238E27FC236}">
                <a16:creationId xmlns:a16="http://schemas.microsoft.com/office/drawing/2014/main" id="{BD2B0378-9E61-1B05-32BD-3092444020EA}"/>
              </a:ext>
            </a:extLst>
          </p:cNvPr>
          <p:cNvSpPr txBox="1"/>
          <p:nvPr/>
        </p:nvSpPr>
        <p:spPr>
          <a:xfrm>
            <a:off x="6149340" y="2674706"/>
            <a:ext cx="2299716" cy="1015663"/>
          </a:xfrm>
          <a:prstGeom prst="rect">
            <a:avLst/>
          </a:prstGeom>
          <a:noFill/>
        </p:spPr>
        <p:txBody>
          <a:bodyPr wrap="square">
            <a:spAutoFit/>
          </a:bodyPr>
          <a:lstStyle/>
          <a:p>
            <a:pPr>
              <a:buNone/>
            </a:pPr>
            <a:r>
              <a:rPr lang="en-IN" sz="1000" b="1" dirty="0"/>
              <a:t>Limitation:</a:t>
            </a:r>
            <a:r>
              <a:rPr lang="en-IN" sz="1000" dirty="0"/>
              <a:t> An alarm accessory is not automatically equivalent to an integrated, load-bearing bicycle lock. Its mounting, alarm behaviour and compatibility need to be considered separately.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48574"/>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
        <p:nvSpPr>
          <p:cNvPr id="26" name="TextBox 25"/>
          <p:cNvSpPr txBox="1"/>
          <p:nvPr/>
        </p:nvSpPr>
        <p:spPr>
          <a:xfrm>
            <a:off x="1325880" y="347472"/>
            <a:ext cx="1737360" cy="502920"/>
          </a:xfrm>
          <a:prstGeom prst="rect">
            <a:avLst/>
          </a:prstGeom>
          <a:noFill/>
        </p:spPr>
        <p:txBody>
          <a:bodyPr wrap="square" anchor="ctr">
            <a:spAutoFit/>
          </a:bodyPr>
          <a:lstStyle/>
          <a:p>
            <a:pPr algn="ctr">
              <a:defRPr sz="950" b="1">
                <a:solidFill>
                  <a:srgbClr val="1F7446"/>
                </a:solidFill>
              </a:defRPr>
            </a:pPr>
            <a:r>
              <a:t>TEAM</a:t>
            </a:r>
            <a:br/>
            <a:r>
              <a:t>ASGUARDIANS</a:t>
            </a:r>
          </a:p>
        </p:txBody>
      </p:sp>
      <p:sp>
        <p:nvSpPr>
          <p:cNvPr id="27" name="TextBox 26"/>
          <p:cNvSpPr txBox="1"/>
          <p:nvPr/>
        </p:nvSpPr>
        <p:spPr>
          <a:xfrm>
            <a:off x="685800" y="1828800"/>
            <a:ext cx="10835640" cy="320040"/>
          </a:xfrm>
          <a:prstGeom prst="rect">
            <a:avLst/>
          </a:prstGeom>
          <a:noFill/>
        </p:spPr>
        <p:txBody>
          <a:bodyPr wrap="square" anchor="ctr">
            <a:spAutoFit/>
          </a:bodyPr>
          <a:lstStyle/>
          <a:p>
            <a:pPr algn="ctr">
              <a:spcAft>
                <a:spcPts val="300"/>
              </a:spcAft>
              <a:defRPr sz="1400" b="1">
                <a:solidFill>
                  <a:srgbClr val="04323B"/>
                </a:solidFill>
              </a:defRPr>
            </a:pPr>
            <a:endParaRPr/>
          </a:p>
        </p:txBody>
      </p:sp>
      <p:sp>
        <p:nvSpPr>
          <p:cNvPr id="28" name="Rounded Rectangle 27"/>
          <p:cNvSpPr/>
          <p:nvPr/>
        </p:nvSpPr>
        <p:spPr>
          <a:xfrm>
            <a:off x="658368" y="2267712"/>
            <a:ext cx="1664208" cy="411480"/>
          </a:xfrm>
          <a:prstGeom prst="roundRect">
            <a:avLst/>
          </a:prstGeom>
          <a:solidFill>
            <a:srgbClr val="E8F5EC"/>
          </a:solidFill>
          <a:ln>
            <a:solidFill>
              <a:srgbClr val="E8F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04088" y="2276856"/>
            <a:ext cx="1572768" cy="393192"/>
          </a:xfrm>
          <a:prstGeom prst="rect">
            <a:avLst/>
          </a:prstGeom>
          <a:noFill/>
        </p:spPr>
        <p:txBody>
          <a:bodyPr wrap="square" anchor="ctr">
            <a:spAutoFit/>
          </a:bodyPr>
          <a:lstStyle/>
          <a:p>
            <a:pPr algn="ctr">
              <a:spcAft>
                <a:spcPts val="300"/>
              </a:spcAft>
              <a:defRPr sz="950" b="1">
                <a:solidFill>
                  <a:srgbClr val="67BE37"/>
                </a:solidFill>
              </a:defRPr>
            </a:pPr>
            <a:endParaRPr/>
          </a:p>
        </p:txBody>
      </p:sp>
      <p:sp>
        <p:nvSpPr>
          <p:cNvPr id="30" name="Rounded Rectangle 29"/>
          <p:cNvSpPr/>
          <p:nvPr/>
        </p:nvSpPr>
        <p:spPr>
          <a:xfrm>
            <a:off x="2505456" y="2267712"/>
            <a:ext cx="1664208" cy="411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51176" y="2276856"/>
            <a:ext cx="1572768" cy="393192"/>
          </a:xfrm>
          <a:prstGeom prst="rect">
            <a:avLst/>
          </a:prstGeom>
          <a:noFill/>
        </p:spPr>
        <p:txBody>
          <a:bodyPr wrap="square" anchor="ctr">
            <a:spAutoFit/>
          </a:bodyPr>
          <a:lstStyle/>
          <a:p>
            <a:pPr algn="ctr">
              <a:spcAft>
                <a:spcPts val="300"/>
              </a:spcAft>
              <a:defRPr sz="950" b="1">
                <a:solidFill>
                  <a:srgbClr val="04323B"/>
                </a:solidFill>
              </a:defRPr>
            </a:pPr>
            <a:endParaRPr/>
          </a:p>
        </p:txBody>
      </p:sp>
      <p:sp>
        <p:nvSpPr>
          <p:cNvPr id="32" name="Rounded Rectangle 31"/>
          <p:cNvSpPr/>
          <p:nvPr/>
        </p:nvSpPr>
        <p:spPr>
          <a:xfrm>
            <a:off x="4352544" y="2267712"/>
            <a:ext cx="1664208" cy="411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98264" y="2276856"/>
            <a:ext cx="1572768" cy="393192"/>
          </a:xfrm>
          <a:prstGeom prst="rect">
            <a:avLst/>
          </a:prstGeom>
          <a:noFill/>
        </p:spPr>
        <p:txBody>
          <a:bodyPr wrap="square" anchor="ctr">
            <a:spAutoFit/>
          </a:bodyPr>
          <a:lstStyle/>
          <a:p>
            <a:pPr algn="ctr">
              <a:spcAft>
                <a:spcPts val="300"/>
              </a:spcAft>
              <a:defRPr sz="950" b="1">
                <a:solidFill>
                  <a:srgbClr val="E2AA34"/>
                </a:solidFill>
              </a:defRPr>
            </a:pPr>
            <a:endParaRPr/>
          </a:p>
        </p:txBody>
      </p:sp>
      <p:sp>
        <p:nvSpPr>
          <p:cNvPr id="34" name="Rounded Rectangle 33"/>
          <p:cNvSpPr/>
          <p:nvPr/>
        </p:nvSpPr>
        <p:spPr>
          <a:xfrm>
            <a:off x="6199632" y="2267712"/>
            <a:ext cx="1664208" cy="411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2276856"/>
            <a:ext cx="1572768" cy="393192"/>
          </a:xfrm>
          <a:prstGeom prst="rect">
            <a:avLst/>
          </a:prstGeom>
          <a:noFill/>
        </p:spPr>
        <p:txBody>
          <a:bodyPr wrap="square" anchor="ctr">
            <a:spAutoFit/>
          </a:bodyPr>
          <a:lstStyle/>
          <a:p>
            <a:pPr algn="ctr">
              <a:spcAft>
                <a:spcPts val="300"/>
              </a:spcAft>
              <a:defRPr sz="950" b="1">
                <a:solidFill>
                  <a:srgbClr val="1F7446"/>
                </a:solidFill>
              </a:defRPr>
            </a:pPr>
            <a:endParaRPr/>
          </a:p>
        </p:txBody>
      </p:sp>
      <p:sp>
        <p:nvSpPr>
          <p:cNvPr id="36" name="Rounded Rectangle 35"/>
          <p:cNvSpPr/>
          <p:nvPr/>
        </p:nvSpPr>
        <p:spPr>
          <a:xfrm>
            <a:off x="8046720" y="2267712"/>
            <a:ext cx="1664208" cy="411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092440" y="2276856"/>
            <a:ext cx="1572768" cy="393192"/>
          </a:xfrm>
          <a:prstGeom prst="rect">
            <a:avLst/>
          </a:prstGeom>
          <a:noFill/>
        </p:spPr>
        <p:txBody>
          <a:bodyPr wrap="square" anchor="ctr">
            <a:spAutoFit/>
          </a:bodyPr>
          <a:lstStyle/>
          <a:p>
            <a:pPr algn="ctr">
              <a:spcAft>
                <a:spcPts val="300"/>
              </a:spcAft>
              <a:defRPr sz="950" b="1">
                <a:solidFill>
                  <a:srgbClr val="04323B"/>
                </a:solidFill>
              </a:defRPr>
            </a:pPr>
            <a:endParaRPr/>
          </a:p>
        </p:txBody>
      </p:sp>
      <p:sp>
        <p:nvSpPr>
          <p:cNvPr id="38" name="Rounded Rectangle 37"/>
          <p:cNvSpPr/>
          <p:nvPr/>
        </p:nvSpPr>
        <p:spPr>
          <a:xfrm>
            <a:off x="9893808" y="2267712"/>
            <a:ext cx="1664208" cy="4114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39528" y="2276856"/>
            <a:ext cx="1572768" cy="393192"/>
          </a:xfrm>
          <a:prstGeom prst="rect">
            <a:avLst/>
          </a:prstGeom>
          <a:noFill/>
        </p:spPr>
        <p:txBody>
          <a:bodyPr wrap="square" anchor="ctr">
            <a:spAutoFit/>
          </a:bodyPr>
          <a:lstStyle/>
          <a:p>
            <a:pPr algn="ctr">
              <a:spcAft>
                <a:spcPts val="300"/>
              </a:spcAft>
              <a:defRPr sz="950" b="1">
                <a:solidFill>
                  <a:srgbClr val="E2AA34"/>
                </a:solidFill>
              </a:defRPr>
            </a:pPr>
            <a:endParaRPr/>
          </a:p>
        </p:txBody>
      </p:sp>
      <p:sp>
        <p:nvSpPr>
          <p:cNvPr id="40" name="TextBox 39"/>
          <p:cNvSpPr txBox="1"/>
          <p:nvPr/>
        </p:nvSpPr>
        <p:spPr>
          <a:xfrm>
            <a:off x="685800" y="2944368"/>
            <a:ext cx="3840480" cy="274320"/>
          </a:xfrm>
          <a:prstGeom prst="rect">
            <a:avLst/>
          </a:prstGeom>
          <a:noFill/>
        </p:spPr>
        <p:txBody>
          <a:bodyPr wrap="square" anchor="ctr">
            <a:spAutoFit/>
          </a:bodyPr>
          <a:lstStyle/>
          <a:p>
            <a:pPr algn="l">
              <a:spcAft>
                <a:spcPts val="300"/>
              </a:spcAft>
              <a:defRPr sz="1250" b="1">
                <a:solidFill>
                  <a:srgbClr val="1F7446"/>
                </a:solidFill>
              </a:defRPr>
            </a:pPr>
            <a:endParaRPr/>
          </a:p>
        </p:txBody>
      </p:sp>
      <p:sp>
        <p:nvSpPr>
          <p:cNvPr id="41" name="Rounded Rectangle 40"/>
          <p:cNvSpPr/>
          <p:nvPr/>
        </p:nvSpPr>
        <p:spPr>
          <a:xfrm>
            <a:off x="658368" y="3310128"/>
            <a:ext cx="1783080" cy="5943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722376" y="3419856"/>
            <a:ext cx="64008" cy="374904"/>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77824" y="3410712"/>
            <a:ext cx="1463040" cy="274320"/>
          </a:xfrm>
          <a:prstGeom prst="rect">
            <a:avLst/>
          </a:prstGeom>
          <a:noFill/>
        </p:spPr>
        <p:txBody>
          <a:bodyPr wrap="square" anchor="ctr">
            <a:spAutoFit/>
          </a:bodyPr>
          <a:lstStyle/>
          <a:p>
            <a:pPr algn="l">
              <a:spcAft>
                <a:spcPts val="300"/>
              </a:spcAft>
              <a:defRPr sz="1050" b="1">
                <a:solidFill>
                  <a:srgbClr val="67BE37"/>
                </a:solidFill>
              </a:defRPr>
            </a:pPr>
            <a:endParaRPr/>
          </a:p>
        </p:txBody>
      </p:sp>
      <p:sp>
        <p:nvSpPr>
          <p:cNvPr id="44" name="TextBox 43"/>
          <p:cNvSpPr txBox="1"/>
          <p:nvPr/>
        </p:nvSpPr>
        <p:spPr>
          <a:xfrm>
            <a:off x="877824" y="3749039"/>
            <a:ext cx="1463040" cy="64008"/>
          </a:xfrm>
          <a:prstGeom prst="rect">
            <a:avLst/>
          </a:prstGeom>
          <a:noFill/>
        </p:spPr>
        <p:txBody>
          <a:bodyPr wrap="square" anchor="ctr">
            <a:spAutoFit/>
          </a:bodyPr>
          <a:lstStyle/>
          <a:p>
            <a:pPr algn="l">
              <a:defRPr sz="950" b="0">
                <a:solidFill>
                  <a:srgbClr val="213035"/>
                </a:solidFill>
              </a:defRPr>
            </a:pPr>
            <a:endParaRPr/>
          </a:p>
        </p:txBody>
      </p:sp>
      <p:sp>
        <p:nvSpPr>
          <p:cNvPr id="45" name="Rounded Rectangle 44"/>
          <p:cNvSpPr/>
          <p:nvPr/>
        </p:nvSpPr>
        <p:spPr>
          <a:xfrm>
            <a:off x="2624328" y="3310128"/>
            <a:ext cx="1783080" cy="5943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2688336" y="3419856"/>
            <a:ext cx="64008" cy="374904"/>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843784" y="3410712"/>
            <a:ext cx="1463040" cy="274320"/>
          </a:xfrm>
          <a:prstGeom prst="rect">
            <a:avLst/>
          </a:prstGeom>
          <a:noFill/>
        </p:spPr>
        <p:txBody>
          <a:bodyPr wrap="square" anchor="ctr">
            <a:spAutoFit/>
          </a:bodyPr>
          <a:lstStyle/>
          <a:p>
            <a:pPr algn="l">
              <a:spcAft>
                <a:spcPts val="300"/>
              </a:spcAft>
              <a:defRPr sz="1050" b="1">
                <a:solidFill>
                  <a:srgbClr val="04323B"/>
                </a:solidFill>
              </a:defRPr>
            </a:pPr>
            <a:endParaRPr/>
          </a:p>
        </p:txBody>
      </p:sp>
      <p:sp>
        <p:nvSpPr>
          <p:cNvPr id="48" name="TextBox 47"/>
          <p:cNvSpPr txBox="1"/>
          <p:nvPr/>
        </p:nvSpPr>
        <p:spPr>
          <a:xfrm>
            <a:off x="2843784" y="3749039"/>
            <a:ext cx="1463040" cy="64008"/>
          </a:xfrm>
          <a:prstGeom prst="rect">
            <a:avLst/>
          </a:prstGeom>
          <a:noFill/>
        </p:spPr>
        <p:txBody>
          <a:bodyPr wrap="square" anchor="ctr">
            <a:spAutoFit/>
          </a:bodyPr>
          <a:lstStyle/>
          <a:p>
            <a:pPr algn="l">
              <a:spcAft>
                <a:spcPts val="300"/>
              </a:spcAft>
              <a:defRPr sz="950" b="0">
                <a:solidFill>
                  <a:srgbClr val="213035"/>
                </a:solidFill>
              </a:defRPr>
            </a:pPr>
            <a:endParaRPr/>
          </a:p>
        </p:txBody>
      </p:sp>
      <p:sp>
        <p:nvSpPr>
          <p:cNvPr id="49" name="Rounded Rectangle 48"/>
          <p:cNvSpPr/>
          <p:nvPr/>
        </p:nvSpPr>
        <p:spPr>
          <a:xfrm>
            <a:off x="4590288" y="3310128"/>
            <a:ext cx="1783080" cy="5943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4654296" y="3419856"/>
            <a:ext cx="64008" cy="374904"/>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endParaRPr/>
          </a:p>
        </p:txBody>
      </p:sp>
      <p:sp>
        <p:nvSpPr>
          <p:cNvPr id="51" name="TextBox 50"/>
          <p:cNvSpPr txBox="1"/>
          <p:nvPr/>
        </p:nvSpPr>
        <p:spPr>
          <a:xfrm>
            <a:off x="4809744" y="3410712"/>
            <a:ext cx="1463040" cy="274320"/>
          </a:xfrm>
          <a:prstGeom prst="rect">
            <a:avLst/>
          </a:prstGeom>
          <a:noFill/>
        </p:spPr>
        <p:txBody>
          <a:bodyPr wrap="square" anchor="ctr">
            <a:spAutoFit/>
          </a:bodyPr>
          <a:lstStyle/>
          <a:p>
            <a:pPr algn="l">
              <a:spcAft>
                <a:spcPts val="300"/>
              </a:spcAft>
              <a:defRPr sz="1050" b="1">
                <a:solidFill>
                  <a:srgbClr val="04323B"/>
                </a:solidFill>
              </a:defRPr>
            </a:pPr>
            <a:endParaRPr/>
          </a:p>
        </p:txBody>
      </p:sp>
      <p:sp>
        <p:nvSpPr>
          <p:cNvPr id="52" name="TextBox 51"/>
          <p:cNvSpPr txBox="1"/>
          <p:nvPr/>
        </p:nvSpPr>
        <p:spPr>
          <a:xfrm>
            <a:off x="4809744" y="3749039"/>
            <a:ext cx="1463040" cy="64008"/>
          </a:xfrm>
          <a:prstGeom prst="rect">
            <a:avLst/>
          </a:prstGeom>
          <a:noFill/>
        </p:spPr>
        <p:txBody>
          <a:bodyPr wrap="square" anchor="ctr">
            <a:spAutoFit/>
          </a:bodyPr>
          <a:lstStyle/>
          <a:p>
            <a:pPr algn="l">
              <a:defRPr sz="950" b="0">
                <a:solidFill>
                  <a:srgbClr val="213035"/>
                </a:solidFill>
              </a:defRPr>
            </a:pPr>
            <a:endParaRPr/>
          </a:p>
        </p:txBody>
      </p:sp>
      <p:sp>
        <p:nvSpPr>
          <p:cNvPr id="53" name="Rounded Rectangle 52"/>
          <p:cNvSpPr/>
          <p:nvPr/>
        </p:nvSpPr>
        <p:spPr>
          <a:xfrm>
            <a:off x="658368" y="4023360"/>
            <a:ext cx="1783080" cy="5943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722376" y="4133088"/>
            <a:ext cx="64008" cy="374904"/>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77824" y="4123944"/>
            <a:ext cx="1463040" cy="274320"/>
          </a:xfrm>
          <a:prstGeom prst="rect">
            <a:avLst/>
          </a:prstGeom>
          <a:noFill/>
        </p:spPr>
        <p:txBody>
          <a:bodyPr wrap="square" anchor="ctr">
            <a:spAutoFit/>
          </a:bodyPr>
          <a:lstStyle/>
          <a:p>
            <a:pPr algn="l">
              <a:defRPr sz="1050" b="1">
                <a:solidFill>
                  <a:srgbClr val="67BE37"/>
                </a:solidFill>
              </a:defRPr>
            </a:pPr>
            <a:endParaRPr/>
          </a:p>
        </p:txBody>
      </p:sp>
      <p:sp>
        <p:nvSpPr>
          <p:cNvPr id="56" name="TextBox 55"/>
          <p:cNvSpPr txBox="1"/>
          <p:nvPr/>
        </p:nvSpPr>
        <p:spPr>
          <a:xfrm>
            <a:off x="877824" y="4462272"/>
            <a:ext cx="1463040" cy="64008"/>
          </a:xfrm>
          <a:prstGeom prst="rect">
            <a:avLst/>
          </a:prstGeom>
          <a:noFill/>
        </p:spPr>
        <p:txBody>
          <a:bodyPr wrap="square" anchor="ctr">
            <a:spAutoFit/>
          </a:bodyPr>
          <a:lstStyle/>
          <a:p>
            <a:pPr algn="l">
              <a:defRPr sz="950" b="0">
                <a:solidFill>
                  <a:srgbClr val="213035"/>
                </a:solidFill>
              </a:defRPr>
            </a:pPr>
            <a:endParaRPr/>
          </a:p>
        </p:txBody>
      </p:sp>
      <p:sp>
        <p:nvSpPr>
          <p:cNvPr id="57" name="Rounded Rectangle 56"/>
          <p:cNvSpPr/>
          <p:nvPr/>
        </p:nvSpPr>
        <p:spPr>
          <a:xfrm>
            <a:off x="2624328" y="4023360"/>
            <a:ext cx="1783080" cy="594360"/>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2688336" y="4133088"/>
            <a:ext cx="64008" cy="374904"/>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843784" y="4123944"/>
            <a:ext cx="1463040" cy="274320"/>
          </a:xfrm>
          <a:prstGeom prst="rect">
            <a:avLst/>
          </a:prstGeom>
          <a:noFill/>
        </p:spPr>
        <p:txBody>
          <a:bodyPr wrap="square" anchor="ctr">
            <a:spAutoFit/>
          </a:bodyPr>
          <a:lstStyle/>
          <a:p>
            <a:pPr algn="l">
              <a:defRPr sz="1050" b="1">
                <a:solidFill>
                  <a:srgbClr val="04323B"/>
                </a:solidFill>
              </a:defRPr>
            </a:pPr>
            <a:endParaRPr/>
          </a:p>
        </p:txBody>
      </p:sp>
      <p:sp>
        <p:nvSpPr>
          <p:cNvPr id="60" name="TextBox 59"/>
          <p:cNvSpPr txBox="1"/>
          <p:nvPr/>
        </p:nvSpPr>
        <p:spPr>
          <a:xfrm>
            <a:off x="2843784" y="4462272"/>
            <a:ext cx="1463040" cy="64008"/>
          </a:xfrm>
          <a:prstGeom prst="rect">
            <a:avLst/>
          </a:prstGeom>
          <a:noFill/>
        </p:spPr>
        <p:txBody>
          <a:bodyPr wrap="square" anchor="ctr">
            <a:spAutoFit/>
          </a:bodyPr>
          <a:lstStyle/>
          <a:p>
            <a:pPr algn="l">
              <a:defRPr sz="950" b="0">
                <a:solidFill>
                  <a:srgbClr val="213035"/>
                </a:solidFill>
              </a:defRPr>
            </a:pPr>
            <a:endParaRPr/>
          </a:p>
        </p:txBody>
      </p:sp>
      <p:sp>
        <p:nvSpPr>
          <p:cNvPr id="61" name="Rounded Rectangle 60"/>
          <p:cNvSpPr/>
          <p:nvPr/>
        </p:nvSpPr>
        <p:spPr>
          <a:xfrm>
            <a:off x="6720840" y="3246120"/>
            <a:ext cx="4800600" cy="1874519"/>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6784848" y="3355848"/>
            <a:ext cx="64008" cy="1655063"/>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940296" y="3346703"/>
            <a:ext cx="4480560" cy="274320"/>
          </a:xfrm>
          <a:prstGeom prst="rect">
            <a:avLst/>
          </a:prstGeom>
          <a:noFill/>
        </p:spPr>
        <p:txBody>
          <a:bodyPr wrap="square" anchor="ctr">
            <a:spAutoFit/>
          </a:bodyPr>
          <a:lstStyle/>
          <a:p>
            <a:pPr algn="l">
              <a:defRPr sz="1150" b="1">
                <a:solidFill>
                  <a:srgbClr val="E2AA34"/>
                </a:solidFill>
              </a:defRPr>
            </a:pPr>
            <a:endParaRPr/>
          </a:p>
        </p:txBody>
      </p:sp>
      <p:sp>
        <p:nvSpPr>
          <p:cNvPr id="64" name="TextBox 63"/>
          <p:cNvSpPr txBox="1"/>
          <p:nvPr/>
        </p:nvSpPr>
        <p:spPr>
          <a:xfrm>
            <a:off x="6940296" y="3685031"/>
            <a:ext cx="4480560" cy="1344167"/>
          </a:xfrm>
          <a:prstGeom prst="rect">
            <a:avLst/>
          </a:prstGeom>
          <a:noFill/>
        </p:spPr>
        <p:txBody>
          <a:bodyPr wrap="square" anchor="ctr">
            <a:spAutoFit/>
          </a:bodyPr>
          <a:lstStyle/>
          <a:p>
            <a:pPr algn="l">
              <a:defRPr sz="1050" b="0">
                <a:solidFill>
                  <a:srgbClr val="213035"/>
                </a:solidFill>
              </a:defRPr>
            </a:pPr>
            <a:endParaRPr/>
          </a:p>
        </p:txBody>
      </p:sp>
      <p:sp>
        <p:nvSpPr>
          <p:cNvPr id="65" name="TextBox 64"/>
          <p:cNvSpPr txBox="1"/>
          <p:nvPr/>
        </p:nvSpPr>
        <p:spPr>
          <a:xfrm>
            <a:off x="777239" y="5349240"/>
            <a:ext cx="11222103" cy="411480"/>
          </a:xfrm>
          <a:prstGeom prst="rect">
            <a:avLst/>
          </a:prstGeom>
          <a:noFill/>
        </p:spPr>
        <p:txBody>
          <a:bodyPr wrap="square" anchor="ctr">
            <a:spAutoFit/>
          </a:bodyPr>
          <a:lstStyle/>
          <a:p>
            <a:pPr algn="ctr">
              <a:defRPr sz="1300" b="1">
                <a:solidFill>
                  <a:srgbClr val="1F7446"/>
                </a:solidFill>
              </a:defRPr>
            </a:pPr>
            <a:endParaRPr/>
          </a:p>
        </p:txBody>
      </p:sp>
      <p:sp>
        <p:nvSpPr>
          <p:cNvPr id="66" name="Rounded Rectangle 65"/>
          <p:cNvSpPr/>
          <p:nvPr/>
        </p:nvSpPr>
        <p:spPr>
          <a:xfrm>
            <a:off x="685800" y="1783080"/>
            <a:ext cx="3337560" cy="1078992"/>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algn="ctr">
              <a:spcAft>
                <a:spcPts val="300"/>
              </a:spcAft>
            </a:pPr>
            <a:r>
              <a:rPr sz="1000" b="1" dirty="0">
                <a:solidFill>
                  <a:srgbClr val="1F7446"/>
                </a:solidFill>
              </a:rPr>
              <a:t>SECURITY OPPORTUNITY</a:t>
            </a:r>
            <a:endParaRPr lang="en-IN" sz="1000" b="1" dirty="0">
              <a:solidFill>
                <a:srgbClr val="1F7446"/>
              </a:solidFill>
            </a:endParaRPr>
          </a:p>
          <a:p>
            <a:pPr algn="ctr">
              <a:spcAft>
                <a:spcPts val="300"/>
              </a:spcAft>
            </a:pPr>
            <a:endParaRPr lang="en-IN" sz="1000" b="1" dirty="0">
              <a:solidFill>
                <a:srgbClr val="1F7446"/>
              </a:solidFill>
            </a:endParaRPr>
          </a:p>
          <a:p>
            <a:pPr algn="ctr">
              <a:spcAft>
                <a:spcPts val="300"/>
              </a:spcAft>
            </a:pPr>
            <a:r>
              <a:rPr lang="en-IN" sz="1000" dirty="0">
                <a:solidFill>
                  <a:schemeClr val="tx1"/>
                </a:solidFill>
              </a:rPr>
              <a:t>Combine a physical locking system with motion-based tamper detection and a local audible alarm.</a:t>
            </a:r>
            <a:endParaRPr sz="1000" b="1" dirty="0">
              <a:solidFill>
                <a:schemeClr val="tx1"/>
              </a:solidFill>
            </a:endParaRPr>
          </a:p>
        </p:txBody>
      </p:sp>
      <p:sp>
        <p:nvSpPr>
          <p:cNvPr id="67" name="Rounded Rectangle 66"/>
          <p:cNvSpPr/>
          <p:nvPr/>
        </p:nvSpPr>
        <p:spPr>
          <a:xfrm>
            <a:off x="4251960" y="1783080"/>
            <a:ext cx="3337560" cy="1078992"/>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algn="ctr">
              <a:spcAft>
                <a:spcPts val="300"/>
              </a:spcAft>
            </a:pPr>
            <a:r>
              <a:rPr sz="1000" b="1" dirty="0">
                <a:solidFill>
                  <a:srgbClr val="E2AA34"/>
                </a:solidFill>
              </a:rPr>
              <a:t>USER EXPERIENCE</a:t>
            </a:r>
            <a:endParaRPr lang="en-IN" sz="1000" b="1" dirty="0">
              <a:solidFill>
                <a:srgbClr val="E2AA34"/>
              </a:solidFill>
            </a:endParaRPr>
          </a:p>
          <a:p>
            <a:pPr algn="ctr">
              <a:spcAft>
                <a:spcPts val="300"/>
              </a:spcAft>
            </a:pPr>
            <a:endParaRPr lang="en-IN" sz="1000" b="1" dirty="0">
              <a:solidFill>
                <a:srgbClr val="E2AA34"/>
              </a:solidFill>
            </a:endParaRPr>
          </a:p>
          <a:p>
            <a:pPr algn="ctr">
              <a:spcAft>
                <a:spcPts val="300"/>
              </a:spcAft>
            </a:pPr>
            <a:r>
              <a:rPr lang="en-US" sz="1000" dirty="0">
                <a:solidFill>
                  <a:schemeClr val="tx1"/>
                </a:solidFill>
              </a:rPr>
              <a:t>Use RFID-based </a:t>
            </a:r>
            <a:r>
              <a:rPr lang="en-US" sz="1000" dirty="0" err="1">
                <a:solidFill>
                  <a:schemeClr val="tx1"/>
                </a:solidFill>
              </a:rPr>
              <a:t>authorised</a:t>
            </a:r>
            <a:r>
              <a:rPr lang="en-US" sz="1000" dirty="0">
                <a:solidFill>
                  <a:schemeClr val="tx1"/>
                </a:solidFill>
              </a:rPr>
              <a:t> access, simple lock activation and clear status feedback.</a:t>
            </a:r>
            <a:endParaRPr lang="en-US" sz="1000" b="1" dirty="0">
              <a:solidFill>
                <a:schemeClr val="tx1"/>
              </a:solidFill>
            </a:endParaRPr>
          </a:p>
        </p:txBody>
      </p:sp>
      <p:sp>
        <p:nvSpPr>
          <p:cNvPr id="68" name="Rounded Rectangle 67"/>
          <p:cNvSpPr/>
          <p:nvPr/>
        </p:nvSpPr>
        <p:spPr>
          <a:xfrm>
            <a:off x="7818120" y="1783080"/>
            <a:ext cx="3337560" cy="1078992"/>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algn="ctr">
              <a:spcAft>
                <a:spcPts val="300"/>
              </a:spcAft>
            </a:pPr>
            <a:r>
              <a:rPr sz="1000" b="1" dirty="0">
                <a:solidFill>
                  <a:srgbClr val="1F7446"/>
                </a:solidFill>
              </a:rPr>
              <a:t>DURABILITY + FIT</a:t>
            </a:r>
            <a:endParaRPr lang="en-IN" sz="1000" b="1" dirty="0">
              <a:solidFill>
                <a:srgbClr val="1F7446"/>
              </a:solidFill>
            </a:endParaRPr>
          </a:p>
          <a:p>
            <a:pPr algn="ctr">
              <a:spcAft>
                <a:spcPts val="300"/>
              </a:spcAft>
            </a:pPr>
            <a:endParaRPr lang="en-IN" sz="1000" b="1" dirty="0">
              <a:solidFill>
                <a:srgbClr val="1F7446"/>
              </a:solidFill>
            </a:endParaRPr>
          </a:p>
          <a:p>
            <a:pPr algn="ctr">
              <a:spcAft>
                <a:spcPts val="300"/>
              </a:spcAft>
            </a:pPr>
            <a:r>
              <a:rPr lang="en-IN" sz="1000" dirty="0">
                <a:solidFill>
                  <a:schemeClr val="tx1"/>
                </a:solidFill>
              </a:rPr>
              <a:t>Design a compact enclosure and mounting arrangement that withstands everyday vibration and outdoor exposure without interfering with the bicycle wheel.</a:t>
            </a:r>
            <a:endParaRPr sz="1000" b="1" dirty="0">
              <a:solidFill>
                <a:schemeClr val="tx1"/>
              </a:solidFill>
            </a:endParaRPr>
          </a:p>
        </p:txBody>
      </p:sp>
      <p:sp>
        <p:nvSpPr>
          <p:cNvPr id="69" name="Rounded Rectangle 68"/>
          <p:cNvSpPr/>
          <p:nvPr/>
        </p:nvSpPr>
        <p:spPr>
          <a:xfrm>
            <a:off x="649224" y="3136392"/>
            <a:ext cx="3337560" cy="1874519"/>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lvl="0"/>
            <a:r>
              <a:rPr sz="1000" b="1" dirty="0">
                <a:solidFill>
                  <a:srgbClr val="1F7446"/>
                </a:solidFill>
              </a:rPr>
              <a:t>HARDWARE REQUIREMENTS</a:t>
            </a:r>
            <a:endParaRPr lang="en-IN" sz="1000" b="1" dirty="0">
              <a:solidFill>
                <a:srgbClr val="1F7446"/>
              </a:solidFill>
            </a:endParaRPr>
          </a:p>
          <a:p>
            <a:pPr lvl="0"/>
            <a:endParaRPr lang="en-IN" sz="1000" b="1" dirty="0">
              <a:solidFill>
                <a:srgbClr val="1F7446"/>
              </a:solidFill>
            </a:endParaRPr>
          </a:p>
          <a:p>
            <a:pPr marL="228600" lvl="0" indent="-228600">
              <a:buFont typeface="+mj-lt"/>
              <a:buAutoNum type="arabicPeriod"/>
            </a:pPr>
            <a:r>
              <a:rPr lang="en-IN" sz="1000" dirty="0">
                <a:solidFill>
                  <a:schemeClr val="tx1"/>
                </a:solidFill>
              </a:rPr>
              <a:t>Physical locking assembly and actuator.</a:t>
            </a:r>
          </a:p>
          <a:p>
            <a:pPr marL="228600" lvl="0" indent="-228600">
              <a:buFont typeface="+mj-lt"/>
              <a:buAutoNum type="arabicPeriod"/>
            </a:pPr>
            <a:r>
              <a:rPr lang="en-IN" sz="1000" dirty="0">
                <a:solidFill>
                  <a:schemeClr val="tx1"/>
                </a:solidFill>
              </a:rPr>
              <a:t>RFID reader and authorised RFID tag.</a:t>
            </a:r>
          </a:p>
          <a:p>
            <a:pPr marL="228600" lvl="0" indent="-228600">
              <a:buFont typeface="+mj-lt"/>
              <a:buAutoNum type="arabicPeriod"/>
            </a:pPr>
            <a:r>
              <a:rPr lang="en-IN" sz="1000" dirty="0">
                <a:solidFill>
                  <a:schemeClr val="tx1"/>
                </a:solidFill>
              </a:rPr>
              <a:t>Motion / vibration sensor.</a:t>
            </a:r>
          </a:p>
          <a:p>
            <a:pPr marL="228600" lvl="0" indent="-228600">
              <a:buFont typeface="+mj-lt"/>
              <a:buAutoNum type="arabicPeriod"/>
            </a:pPr>
            <a:r>
              <a:rPr lang="en-IN" sz="1000" dirty="0">
                <a:solidFill>
                  <a:schemeClr val="tx1"/>
                </a:solidFill>
              </a:rPr>
              <a:t>Microcontroller for access control and sensor processing.</a:t>
            </a:r>
          </a:p>
          <a:p>
            <a:pPr marL="228600" lvl="0" indent="-228600">
              <a:buFont typeface="+mj-lt"/>
              <a:buAutoNum type="arabicPeriod"/>
            </a:pPr>
            <a:r>
              <a:rPr lang="en-IN" sz="1000" dirty="0">
                <a:solidFill>
                  <a:schemeClr val="tx1"/>
                </a:solidFill>
              </a:rPr>
              <a:t>Buzzer and status indicator.</a:t>
            </a:r>
          </a:p>
          <a:p>
            <a:pPr marL="228600" lvl="0" indent="-228600">
              <a:buFont typeface="+mj-lt"/>
              <a:buAutoNum type="arabicPeriod"/>
            </a:pPr>
            <a:r>
              <a:rPr lang="en-IN" sz="1000" dirty="0">
                <a:solidFill>
                  <a:schemeClr val="tx1"/>
                </a:solidFill>
              </a:rPr>
              <a:t>Rechargeable battery and charging circuit.</a:t>
            </a:r>
          </a:p>
          <a:p>
            <a:pPr marL="228600" lvl="0" indent="-228600">
              <a:buFont typeface="+mj-lt"/>
              <a:buAutoNum type="arabicPeriod"/>
            </a:pPr>
            <a:r>
              <a:rPr lang="en-IN" sz="1000" dirty="0">
                <a:solidFill>
                  <a:schemeClr val="tx1"/>
                </a:solidFill>
              </a:rPr>
              <a:t>Weather-resistant housing and mounting components.</a:t>
            </a:r>
          </a:p>
          <a:p>
            <a:pPr algn="ctr">
              <a:spcAft>
                <a:spcPts val="300"/>
              </a:spcAft>
            </a:pPr>
            <a:endParaRPr sz="1000" b="1" dirty="0">
              <a:solidFill>
                <a:srgbClr val="1F7446"/>
              </a:solidFill>
            </a:endParaRPr>
          </a:p>
        </p:txBody>
      </p:sp>
      <p:sp>
        <p:nvSpPr>
          <p:cNvPr id="70" name="Rounded Rectangle 69"/>
          <p:cNvSpPr/>
          <p:nvPr/>
        </p:nvSpPr>
        <p:spPr>
          <a:xfrm>
            <a:off x="4251960" y="3154680"/>
            <a:ext cx="3337560" cy="1874519"/>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lvl="0"/>
            <a:r>
              <a:rPr sz="1000" b="1" dirty="0">
                <a:solidFill>
                  <a:srgbClr val="E2AA34"/>
                </a:solidFill>
              </a:rPr>
              <a:t>SOFTWARE REQUIREMENTS</a:t>
            </a:r>
            <a:endParaRPr lang="en-IN" sz="1000" b="1" dirty="0">
              <a:solidFill>
                <a:srgbClr val="E2AA34"/>
              </a:solidFill>
            </a:endParaRPr>
          </a:p>
          <a:p>
            <a:pPr lvl="0"/>
            <a:endParaRPr lang="en-IN" sz="1000" b="1" dirty="0">
              <a:solidFill>
                <a:srgbClr val="E2AA34"/>
              </a:solidFill>
            </a:endParaRPr>
          </a:p>
          <a:p>
            <a:pPr marL="228600" lvl="0" indent="-228600">
              <a:buFont typeface="+mj-lt"/>
              <a:buAutoNum type="arabicPeriod"/>
            </a:pPr>
            <a:r>
              <a:rPr lang="en-IN" sz="1000" dirty="0">
                <a:solidFill>
                  <a:schemeClr val="tx1"/>
                </a:solidFill>
              </a:rPr>
              <a:t>RFID authentication logic.</a:t>
            </a:r>
          </a:p>
          <a:p>
            <a:pPr marL="228600" lvl="0" indent="-228600">
              <a:buFont typeface="+mj-lt"/>
              <a:buAutoNum type="arabicPeriod"/>
            </a:pPr>
            <a:r>
              <a:rPr lang="en-IN" sz="1000" dirty="0">
                <a:solidFill>
                  <a:schemeClr val="tx1"/>
                </a:solidFill>
              </a:rPr>
              <a:t>Lock / unlock control.</a:t>
            </a:r>
          </a:p>
          <a:p>
            <a:pPr marL="228600" lvl="0" indent="-228600">
              <a:buFont typeface="+mj-lt"/>
              <a:buAutoNum type="arabicPeriod"/>
            </a:pPr>
            <a:r>
              <a:rPr lang="en-IN" sz="1000" dirty="0">
                <a:solidFill>
                  <a:schemeClr val="tx1"/>
                </a:solidFill>
              </a:rPr>
              <a:t>Motion-event detection.</a:t>
            </a:r>
          </a:p>
          <a:p>
            <a:pPr marL="228600" lvl="0" indent="-228600">
              <a:buFont typeface="+mj-lt"/>
              <a:buAutoNum type="arabicPeriod"/>
            </a:pPr>
            <a:r>
              <a:rPr lang="en-IN" sz="1000" dirty="0">
                <a:solidFill>
                  <a:schemeClr val="tx1"/>
                </a:solidFill>
              </a:rPr>
              <a:t>Alarm activation and reset logic.</a:t>
            </a:r>
          </a:p>
          <a:p>
            <a:pPr marL="228600" lvl="0" indent="-228600">
              <a:buFont typeface="+mj-lt"/>
              <a:buAutoNum type="arabicPeriod"/>
            </a:pPr>
            <a:r>
              <a:rPr lang="en-IN" sz="1000" dirty="0">
                <a:solidFill>
                  <a:schemeClr val="tx1"/>
                </a:solidFill>
              </a:rPr>
              <a:t>Battery-status monitoring and fault handling.</a:t>
            </a:r>
          </a:p>
          <a:p>
            <a:pPr algn="ctr">
              <a:spcAft>
                <a:spcPts val="300"/>
              </a:spcAft>
            </a:pPr>
            <a:endParaRPr sz="1000" b="1" dirty="0">
              <a:solidFill>
                <a:srgbClr val="E2AA34"/>
              </a:solidFill>
            </a:endParaRPr>
          </a:p>
        </p:txBody>
      </p:sp>
      <p:sp>
        <p:nvSpPr>
          <p:cNvPr id="71" name="Rounded Rectangle 70"/>
          <p:cNvSpPr/>
          <p:nvPr/>
        </p:nvSpPr>
        <p:spPr>
          <a:xfrm>
            <a:off x="7818120" y="3154680"/>
            <a:ext cx="3337560" cy="1874519"/>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algn="ctr">
              <a:spcAft>
                <a:spcPts val="300"/>
              </a:spcAft>
            </a:pPr>
            <a:r>
              <a:rPr sz="1000" b="1" dirty="0">
                <a:solidFill>
                  <a:srgbClr val="1F7446"/>
                </a:solidFill>
              </a:rPr>
              <a:t>OTHER RESOURCES</a:t>
            </a:r>
            <a:endParaRPr lang="en-IN" sz="1000" b="1" dirty="0">
              <a:solidFill>
                <a:srgbClr val="1F7446"/>
              </a:solidFill>
            </a:endParaRPr>
          </a:p>
          <a:p>
            <a:pPr algn="ctr">
              <a:spcAft>
                <a:spcPts val="300"/>
              </a:spcAft>
            </a:pPr>
            <a:endParaRPr lang="en-IN" sz="1000" b="1" dirty="0">
              <a:solidFill>
                <a:schemeClr val="tx1"/>
              </a:solidFill>
            </a:endParaRPr>
          </a:p>
          <a:p>
            <a:pPr marL="228600" lvl="0" indent="-228600">
              <a:buFont typeface="+mj-lt"/>
              <a:buAutoNum type="arabicPeriod"/>
            </a:pPr>
            <a:r>
              <a:rPr lang="en-IN" sz="1000" dirty="0">
                <a:solidFill>
                  <a:schemeClr val="tx1"/>
                </a:solidFill>
              </a:rPr>
              <a:t>Bicycle-owner interviews and parking observations.</a:t>
            </a:r>
          </a:p>
          <a:p>
            <a:pPr marL="228600" lvl="0" indent="-228600">
              <a:buFont typeface="+mj-lt"/>
              <a:buAutoNum type="arabicPeriod"/>
            </a:pPr>
            <a:r>
              <a:rPr lang="en-IN" sz="1000" dirty="0">
                <a:solidFill>
                  <a:schemeClr val="tx1"/>
                </a:solidFill>
              </a:rPr>
              <a:t>Frame measurements and mounting references.</a:t>
            </a:r>
          </a:p>
          <a:p>
            <a:pPr marL="228600" lvl="0" indent="-228600">
              <a:buFont typeface="+mj-lt"/>
              <a:buAutoNum type="arabicPeriod"/>
            </a:pPr>
            <a:r>
              <a:rPr lang="en-IN" sz="1000" dirty="0">
                <a:solidFill>
                  <a:schemeClr val="tx1"/>
                </a:solidFill>
              </a:rPr>
              <a:t>Prototype fabrication and electronic testing tools.</a:t>
            </a:r>
          </a:p>
          <a:p>
            <a:pPr marL="228600" lvl="0" indent="-228600">
              <a:buFont typeface="+mj-lt"/>
              <a:buAutoNum type="arabicPeriod"/>
            </a:pPr>
            <a:r>
              <a:rPr lang="en-IN" sz="1000" dirty="0">
                <a:solidFill>
                  <a:schemeClr val="tx1"/>
                </a:solidFill>
              </a:rPr>
              <a:t>Testing time for false alarms, repeated operation and outdoor exposure.</a:t>
            </a:r>
          </a:p>
          <a:p>
            <a:pPr marL="228600" lvl="0" indent="-228600">
              <a:buFont typeface="+mj-lt"/>
              <a:buAutoNum type="arabicPeriod"/>
            </a:pPr>
            <a:r>
              <a:rPr lang="en-IN" sz="1000" dirty="0">
                <a:solidFill>
                  <a:schemeClr val="tx1"/>
                </a:solidFill>
              </a:rPr>
              <a:t>Component cost estimates and user feedback.</a:t>
            </a:r>
          </a:p>
          <a:p>
            <a:pPr algn="ctr">
              <a:spcAft>
                <a:spcPts val="300"/>
              </a:spcAft>
            </a:pPr>
            <a:endParaRPr sz="1000" b="1" dirty="0">
              <a:solidFill>
                <a:srgbClr val="1F7446"/>
              </a:solidFill>
            </a:endParaRPr>
          </a:p>
        </p:txBody>
      </p:sp>
      <p:sp>
        <p:nvSpPr>
          <p:cNvPr id="72" name="Rounded Rectangle 71"/>
          <p:cNvSpPr/>
          <p:nvPr/>
        </p:nvSpPr>
        <p:spPr>
          <a:xfrm>
            <a:off x="685799" y="5285232"/>
            <a:ext cx="11030407" cy="603504"/>
          </a:xfrm>
          <a:prstGeom prst="roundRect">
            <a:avLst/>
          </a:prstGeom>
          <a:solidFill>
            <a:srgbClr val="FFFFFF"/>
          </a:solidFill>
          <a:ln w="12700">
            <a:solidFill>
              <a:srgbClr val="CDE0D2"/>
            </a:solidFill>
          </a:ln>
        </p:spPr>
        <p:style>
          <a:lnRef idx="1">
            <a:schemeClr val="accent1"/>
          </a:lnRef>
          <a:fillRef idx="3">
            <a:schemeClr val="accent1"/>
          </a:fillRef>
          <a:effectRef idx="2">
            <a:schemeClr val="accent1"/>
          </a:effectRef>
          <a:fontRef idx="minor">
            <a:schemeClr val="lt1"/>
          </a:fontRef>
        </p:style>
        <p:txBody>
          <a:bodyPr lIns="146304" tIns="91440" rIns="109728" bIns="73152" rtlCol="0" anchor="t"/>
          <a:lstStyle/>
          <a:p>
            <a:pPr algn="ctr">
              <a:spcAft>
                <a:spcPts val="300"/>
              </a:spcAft>
            </a:pPr>
            <a:r>
              <a:rPr sz="1000" b="1" dirty="0">
                <a:solidFill>
                  <a:srgbClr val="E2AA34"/>
                </a:solidFill>
              </a:rPr>
              <a:t>DESIGN OPPORTUNITY</a:t>
            </a:r>
            <a:endParaRPr lang="en-IN" sz="1000" b="1" dirty="0">
              <a:solidFill>
                <a:srgbClr val="E2AA34"/>
              </a:solidFill>
            </a:endParaRPr>
          </a:p>
          <a:p>
            <a:pPr algn="ctr">
              <a:spcAft>
                <a:spcPts val="300"/>
              </a:spcAft>
            </a:pPr>
            <a:r>
              <a:rPr lang="en-IN" sz="1000" dirty="0">
                <a:solidFill>
                  <a:schemeClr val="tx1"/>
                </a:solidFill>
              </a:rPr>
              <a:t>Build one integrated Smart Motion Lock that combines authorised RFID access, motion-based tamper detection and an audible warning, then validate its usability and reliability through a working prototype.</a:t>
            </a:r>
            <a:endParaRPr sz="1000" b="1"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r>
              <a:rPr lang="en-US" sz="1200" b="1" dirty="0"/>
              <a:t>CORE IDEA </a:t>
            </a:r>
            <a:r>
              <a:rPr lang="en-US" sz="1200" dirty="0"/>
              <a:t>:Develop a bicycle lock that combines RFID access, a resettable mechanical combination override, and motion-based tamper detection.</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
        <p:nvSpPr>
          <p:cNvPr id="26" name="TextBox 25"/>
          <p:cNvSpPr txBox="1"/>
          <p:nvPr/>
        </p:nvSpPr>
        <p:spPr>
          <a:xfrm>
            <a:off x="1325880" y="347472"/>
            <a:ext cx="1737360" cy="502920"/>
          </a:xfrm>
          <a:prstGeom prst="rect">
            <a:avLst/>
          </a:prstGeom>
          <a:noFill/>
        </p:spPr>
        <p:txBody>
          <a:bodyPr wrap="square" anchor="ctr">
            <a:spAutoFit/>
          </a:bodyPr>
          <a:lstStyle/>
          <a:p>
            <a:pPr algn="ctr">
              <a:defRPr sz="950" b="1">
                <a:solidFill>
                  <a:srgbClr val="1F7446"/>
                </a:solidFill>
              </a:defRPr>
            </a:pPr>
            <a:r>
              <a:t>TEAM</a:t>
            </a:r>
            <a:br/>
            <a:r>
              <a:t>ASGUARDIANS</a:t>
            </a:r>
          </a:p>
        </p:txBody>
      </p:sp>
      <p:sp>
        <p:nvSpPr>
          <p:cNvPr id="27" name="TextBox 26"/>
          <p:cNvSpPr txBox="1"/>
          <p:nvPr/>
        </p:nvSpPr>
        <p:spPr>
          <a:xfrm>
            <a:off x="1101852" y="982980"/>
            <a:ext cx="10835640" cy="320040"/>
          </a:xfrm>
          <a:prstGeom prst="rect">
            <a:avLst/>
          </a:prstGeom>
          <a:noFill/>
        </p:spPr>
        <p:txBody>
          <a:bodyPr wrap="square" anchor="ctr">
            <a:spAutoFit/>
          </a:bodyPr>
          <a:lstStyle/>
          <a:p>
            <a:pPr algn="ctr">
              <a:spcAft>
                <a:spcPts val="200"/>
              </a:spcAft>
              <a:defRPr sz="1400" b="1">
                <a:solidFill>
                  <a:srgbClr val="04323B"/>
                </a:solidFill>
              </a:defRPr>
            </a:pPr>
            <a:r>
              <a:rPr sz="1200" b="0" dirty="0">
                <a:solidFill>
                  <a:srgbClr val="233135"/>
                </a:solidFill>
              </a:rPr>
              <a:t>At this stage, we are defining solution directions — not locking ourselves into one product or technology.</a:t>
            </a:r>
          </a:p>
        </p:txBody>
      </p:sp>
      <p:sp>
        <p:nvSpPr>
          <p:cNvPr id="29" name="Rounded Rectangle 28"/>
          <p:cNvSpPr/>
          <p:nvPr/>
        </p:nvSpPr>
        <p:spPr>
          <a:xfrm>
            <a:off x="722376" y="2304288"/>
            <a:ext cx="64008" cy="2157984"/>
          </a:xfrm>
          <a:prstGeom prst="roundRect">
            <a:avLst/>
          </a:prstGeom>
          <a:solidFill>
            <a:srgbClr val="67B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14400" y="2201323"/>
            <a:ext cx="4919472" cy="2319626"/>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1000"/>
              </a:spcAft>
              <a:buClr>
                <a:schemeClr val="accent1"/>
              </a:buClr>
              <a:buSzPct val="100000"/>
            </a:pPr>
            <a:r>
              <a:rPr lang="en-US" sz="1400" b="1" dirty="0">
                <a:solidFill>
                  <a:schemeClr val="tx1"/>
                </a:solidFill>
              </a:rPr>
              <a:t>HOW IT WORKS</a:t>
            </a:r>
          </a:p>
          <a:p>
            <a:pPr marL="228600" indent="-228600">
              <a:spcAft>
                <a:spcPts val="1000"/>
              </a:spcAft>
              <a:buClr>
                <a:schemeClr val="accent1"/>
              </a:buClr>
              <a:buSzPct val="100000"/>
              <a:buAutoNum type="arabicPeriod"/>
            </a:pPr>
            <a:r>
              <a:rPr lang="en-US" sz="1050" dirty="0">
                <a:solidFill>
                  <a:schemeClr val="tx1"/>
                </a:solidFill>
              </a:rPr>
              <a:t>RFID access: The owner taps an </a:t>
            </a:r>
            <a:r>
              <a:rPr lang="en-US" sz="1050" dirty="0" err="1">
                <a:solidFill>
                  <a:schemeClr val="tx1"/>
                </a:solidFill>
              </a:rPr>
              <a:t>authorised</a:t>
            </a:r>
            <a:r>
              <a:rPr lang="en-US" sz="1050" dirty="0">
                <a:solidFill>
                  <a:schemeClr val="tx1"/>
                </a:solidFill>
              </a:rPr>
              <a:t> tag for everyday unlocking.</a:t>
            </a:r>
          </a:p>
          <a:p>
            <a:pPr marL="228600" indent="-228600">
              <a:spcAft>
                <a:spcPts val="1000"/>
              </a:spcAft>
              <a:buClr>
                <a:schemeClr val="accent1"/>
              </a:buClr>
              <a:buSzPct val="100000"/>
              <a:buAutoNum type="arabicPeriod"/>
            </a:pPr>
            <a:r>
              <a:rPr lang="en-US" sz="1050" dirty="0">
                <a:solidFill>
                  <a:schemeClr val="tx1"/>
                </a:solidFill>
              </a:rPr>
              <a:t> Mechanical backup: If the tag is forgotten or the electronics fail, the owner enters a personal mechanical combination to release the locking bolt.</a:t>
            </a:r>
          </a:p>
          <a:p>
            <a:pPr marL="228600" indent="-228600">
              <a:spcAft>
                <a:spcPts val="1000"/>
              </a:spcAft>
              <a:buClr>
                <a:schemeClr val="accent1"/>
              </a:buClr>
              <a:buSzPct val="100000"/>
              <a:buAutoNum type="arabicPeriod"/>
            </a:pPr>
            <a:r>
              <a:rPr lang="en-US" sz="1050" dirty="0">
                <a:solidFill>
                  <a:schemeClr val="tx1"/>
                </a:solidFill>
              </a:rPr>
              <a:t>Tamper detection: While armed, suspicious movement activates a local audible alarm.</a:t>
            </a:r>
          </a:p>
        </p:txBody>
      </p:sp>
      <p:sp>
        <p:nvSpPr>
          <p:cNvPr id="33" name="Rounded Rectangle 32"/>
          <p:cNvSpPr/>
          <p:nvPr/>
        </p:nvSpPr>
        <p:spPr>
          <a:xfrm>
            <a:off x="6300216" y="2304288"/>
            <a:ext cx="64008" cy="2157984"/>
          </a:xfrm>
          <a:prstGeom prst="roundRect">
            <a:avLst/>
          </a:prstGeom>
          <a:solidFill>
            <a:srgbClr val="0432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58368" y="4800600"/>
            <a:ext cx="4683001" cy="841248"/>
          </a:xfrm>
          <a:prstGeom prst="roundRect">
            <a:avLst/>
          </a:prstGeom>
          <a:solidFill>
            <a:srgbClr val="FFFFFF"/>
          </a:solidFill>
          <a:ln>
            <a:solidFill>
              <a:srgbClr val="CCD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722376" y="4910328"/>
            <a:ext cx="64008" cy="621792"/>
          </a:xfrm>
          <a:prstGeom prst="roundRect">
            <a:avLst/>
          </a:prstGeom>
          <a:solidFill>
            <a:srgbClr val="E2AA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77824" y="4879449"/>
            <a:ext cx="10543032" cy="274320"/>
          </a:xfrm>
          <a:prstGeom prst="rect">
            <a:avLst/>
          </a:prstGeom>
          <a:noFill/>
        </p:spPr>
        <p:txBody>
          <a:bodyPr wrap="square" anchor="ctr">
            <a:spAutoFit/>
          </a:bodyPr>
          <a:lstStyle/>
          <a:p>
            <a:pPr algn="l">
              <a:spcAft>
                <a:spcPts val="300"/>
              </a:spcAft>
              <a:defRPr sz="1350" b="1">
                <a:solidFill>
                  <a:srgbClr val="E2AA34"/>
                </a:solidFill>
              </a:defRPr>
            </a:pPr>
            <a:r>
              <a:rPr sz="1200" b="1">
                <a:solidFill>
                  <a:srgbClr val="1F7446"/>
                </a:solidFill>
              </a:rPr>
              <a:t>EXPECTED OUTCOME</a:t>
            </a:r>
          </a:p>
        </p:txBody>
      </p:sp>
      <p:sp>
        <p:nvSpPr>
          <p:cNvPr id="39" name="TextBox 38"/>
          <p:cNvSpPr txBox="1"/>
          <p:nvPr/>
        </p:nvSpPr>
        <p:spPr>
          <a:xfrm>
            <a:off x="877824" y="5156434"/>
            <a:ext cx="4504634" cy="477054"/>
          </a:xfrm>
          <a:prstGeom prst="rect">
            <a:avLst/>
          </a:prstGeom>
          <a:noFill/>
        </p:spPr>
        <p:txBody>
          <a:bodyPr wrap="square" anchor="ctr">
            <a:normAutofit/>
          </a:bodyPr>
          <a:lstStyle/>
          <a:p>
            <a:pPr>
              <a:spcAft>
                <a:spcPts val="150"/>
              </a:spcAft>
              <a:defRPr sz="1250" b="0">
                <a:solidFill>
                  <a:srgbClr val="213035"/>
                </a:solidFill>
              </a:defRPr>
            </a:pPr>
            <a:r>
              <a:rPr sz="1200">
                <a:latin typeface="Aptos"/>
              </a:rPr>
              <a:t>A working prototype demonstrating RFID access, mechanical unlocking without electrical power, and motion-triggered alarm activation.</a:t>
            </a:r>
            <a:endParaRPr sz="1050" b="0" dirty="0">
              <a:solidFill>
                <a:srgbClr val="233135"/>
              </a:solidFill>
            </a:endParaRPr>
          </a:p>
        </p:txBody>
      </p:sp>
      <p:sp>
        <p:nvSpPr>
          <p:cNvPr id="17" name="Rectangle: Rounded Corners 16">
            <a:extLst>
              <a:ext uri="{FF2B5EF4-FFF2-40B4-BE49-F238E27FC236}">
                <a16:creationId xmlns:a16="http://schemas.microsoft.com/office/drawing/2014/main" id="{01E254E0-9014-5F36-0DA8-A9420341D558}"/>
              </a:ext>
            </a:extLst>
          </p:cNvPr>
          <p:cNvSpPr/>
          <p:nvPr/>
        </p:nvSpPr>
        <p:spPr>
          <a:xfrm>
            <a:off x="6748272" y="2197510"/>
            <a:ext cx="4608576" cy="231962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9" name="TextBox 18">
            <a:extLst>
              <a:ext uri="{FF2B5EF4-FFF2-40B4-BE49-F238E27FC236}">
                <a16:creationId xmlns:a16="http://schemas.microsoft.com/office/drawing/2014/main" id="{8C168217-3E6D-0EA0-740E-9B422A3E7C21}"/>
              </a:ext>
            </a:extLst>
          </p:cNvPr>
          <p:cNvSpPr txBox="1"/>
          <p:nvPr/>
        </p:nvSpPr>
        <p:spPr>
          <a:xfrm>
            <a:off x="6982967" y="2546694"/>
            <a:ext cx="4373881" cy="1569660"/>
          </a:xfrm>
          <a:prstGeom prst="rect">
            <a:avLst/>
          </a:prstGeom>
          <a:noFill/>
        </p:spPr>
        <p:txBody>
          <a:bodyPr wrap="square">
            <a:spAutoFit/>
          </a:bodyPr>
          <a:lstStyle/>
          <a:p>
            <a:r>
              <a:rPr lang="en-IN" sz="1200" b="1" dirty="0"/>
              <a:t>DESIGN OPPORTUNITY</a:t>
            </a:r>
          </a:p>
          <a:p>
            <a:endParaRPr lang="en-IN" sz="1200" dirty="0"/>
          </a:p>
          <a:p>
            <a:pPr marL="228600" indent="-228600">
              <a:buFont typeface="+mj-lt"/>
              <a:buAutoNum type="arabicPeriod"/>
            </a:pPr>
            <a:r>
              <a:rPr lang="en-IN" sz="1200" dirty="0"/>
              <a:t> Reduce dependence on electronic access and battery power. </a:t>
            </a:r>
          </a:p>
          <a:p>
            <a:pPr marL="228600" indent="-228600">
              <a:buFont typeface="+mj-lt"/>
              <a:buAutoNum type="arabicPeriod"/>
            </a:pPr>
            <a:r>
              <a:rPr lang="en-IN" sz="1200" dirty="0"/>
              <a:t>Eliminate the need to carry a separate backup key.</a:t>
            </a:r>
          </a:p>
          <a:p>
            <a:pPr marL="228600" indent="-228600">
              <a:buFont typeface="+mj-lt"/>
              <a:buAutoNum type="arabicPeriod"/>
            </a:pPr>
            <a:r>
              <a:rPr lang="en-IN" sz="1200" dirty="0"/>
              <a:t> Keep the mechanical override independent of the electronic controller.</a:t>
            </a:r>
          </a:p>
          <a:p>
            <a:pPr marL="228600" indent="-228600">
              <a:buFont typeface="+mj-lt"/>
              <a:buAutoNum type="arabicPeriod"/>
            </a:pPr>
            <a:r>
              <a:rPr lang="en-IN" sz="1200" dirty="0"/>
              <a:t> Integrate physical security and tamper alerts into a practical bicycle-mounted design.</a:t>
            </a:r>
          </a:p>
        </p:txBody>
      </p:sp>
      <p:sp>
        <p:nvSpPr>
          <p:cNvPr id="23" name="Rectangle: Rounded Corners 22">
            <a:extLst>
              <a:ext uri="{FF2B5EF4-FFF2-40B4-BE49-F238E27FC236}">
                <a16:creationId xmlns:a16="http://schemas.microsoft.com/office/drawing/2014/main" id="{E1B75F44-7E9A-D811-ED5C-0AF832381FCD}"/>
              </a:ext>
            </a:extLst>
          </p:cNvPr>
          <p:cNvSpPr/>
          <p:nvPr/>
        </p:nvSpPr>
        <p:spPr>
          <a:xfrm>
            <a:off x="6852213" y="4695444"/>
            <a:ext cx="4504635" cy="156966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N" sz="1100" b="1" dirty="0">
                <a:solidFill>
                  <a:schemeClr val="tx2"/>
                </a:solidFill>
              </a:rPr>
              <a:t>SUCCESS CRITERIA</a:t>
            </a:r>
          </a:p>
          <a:p>
            <a:endParaRPr lang="en-IN" sz="1100" dirty="0"/>
          </a:p>
          <a:p>
            <a:r>
              <a:rPr lang="en-IN" sz="1100" dirty="0"/>
              <a:t> RFID authentication reliably controls normal access.</a:t>
            </a:r>
          </a:p>
          <a:p>
            <a:r>
              <a:rPr lang="en-IN" sz="1100" dirty="0"/>
              <a:t> The mechanical combination releases the bolt without electrical power.</a:t>
            </a:r>
          </a:p>
          <a:p>
            <a:r>
              <a:rPr lang="en-IN" sz="1100" dirty="0"/>
              <a:t>The owner can reset the combination using a secure procedure.</a:t>
            </a:r>
          </a:p>
          <a:p>
            <a:r>
              <a:rPr lang="en-IN" sz="1100" dirty="0"/>
              <a:t>The alarm responds to suspicious movement while armed.</a:t>
            </a:r>
          </a:p>
          <a:p>
            <a:r>
              <a:rPr lang="en-IN" sz="1100" dirty="0"/>
              <a:t>Repeated-use and basic outdoor tests identify durability and reliability issues.</a:t>
            </a:r>
          </a:p>
        </p:txBody>
      </p:sp>
      <p:sp>
        <p:nvSpPr>
          <p:cNvPr id="35" name="Rectangle: Rounded Corners 34">
            <a:extLst>
              <a:ext uri="{FF2B5EF4-FFF2-40B4-BE49-F238E27FC236}">
                <a16:creationId xmlns:a16="http://schemas.microsoft.com/office/drawing/2014/main" id="{9E077CC7-361E-5085-B61D-0203E20391B2}"/>
              </a:ext>
            </a:extLst>
          </p:cNvPr>
          <p:cNvSpPr/>
          <p:nvPr/>
        </p:nvSpPr>
        <p:spPr>
          <a:xfrm>
            <a:off x="457200" y="5720697"/>
            <a:ext cx="6151944" cy="54369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N" sz="1200" b="1" dirty="0">
                <a:solidFill>
                  <a:schemeClr val="tx2"/>
                </a:solidFill>
              </a:rPr>
              <a:t>INNOVATION FOCUS</a:t>
            </a:r>
          </a:p>
          <a:p>
            <a:r>
              <a:rPr lang="en-IN" sz="1200" dirty="0"/>
              <a:t>A practical, keyless recovery mechanism integrated into a smart bicycle lock, designed to remain usable when electronic access is unavailable.</a:t>
            </a:r>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1440</Words>
  <Application>Microsoft Office PowerPoint</Application>
  <PresentationFormat>Widescreen</PresentationFormat>
  <Paragraphs>166</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shree ishwarya</cp:lastModifiedBy>
  <cp:revision>4</cp:revision>
  <dcterms:created xsi:type="dcterms:W3CDTF">2026-10-07T15:27:40Z</dcterms:created>
  <dcterms:modified xsi:type="dcterms:W3CDTF">2026-10-10T09:50:20Z</dcterms:modified>
</cp:coreProperties>
</file>